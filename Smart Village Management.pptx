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0"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7" r:id="rId20"/>
    <p:sldId id="278" r:id="rId21"/>
    <p:sldId id="279" r:id="rId22"/>
    <p:sldId id="275" r:id="rId23"/>
    <p:sldId id="27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4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914847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82313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898974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746D99-91A9-48AE-A945-2736D4E501C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59739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746D99-91A9-48AE-A945-2736D4E501CB}" type="datetimeFigureOut">
              <a:rPr lang="en-IN" smtClean="0"/>
              <a:t>01-05-2026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181520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746D99-91A9-48AE-A945-2736D4E501CB}" type="datetimeFigureOut">
              <a:rPr lang="en-IN" smtClean="0"/>
              <a:t>01-05-2026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8572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746D99-91A9-48AE-A945-2736D4E501CB}" type="datetimeFigureOut">
              <a:rPr lang="en-IN" smtClean="0"/>
              <a:t>01-05-2026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83590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46D99-91A9-48AE-A945-2736D4E501C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1119962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46D99-91A9-48AE-A945-2736D4E501C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373536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46D99-91A9-48AE-A945-2736D4E501C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1622942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2154211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1476108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2583301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10606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2642143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2053990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46D99-91A9-48AE-A945-2736D4E501C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87E11C-6FD2-47A3-9DDE-8670E2DEC910}" type="slidenum">
              <a:rPr lang="en-IN" smtClean="0"/>
              <a:t>‹#›</a:t>
            </a:fld>
            <a:endParaRPr lang="en-IN"/>
          </a:p>
        </p:txBody>
      </p:sp>
    </p:spTree>
    <p:extLst>
      <p:ext uri="{BB962C8B-B14F-4D97-AF65-F5344CB8AC3E}">
        <p14:creationId xmlns:p14="http://schemas.microsoft.com/office/powerpoint/2010/main" val="2956266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4746D99-91A9-48AE-A945-2736D4E501CB}" type="datetimeFigureOut">
              <a:rPr lang="en-IN" smtClean="0"/>
              <a:t>01-05-2026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87E11C-6FD2-47A3-9DDE-8670E2DEC910}" type="slidenum">
              <a:rPr lang="en-IN" smtClean="0"/>
              <a:t>‹#›</a:t>
            </a:fld>
            <a:endParaRPr lang="en-IN"/>
          </a:p>
        </p:txBody>
      </p:sp>
    </p:spTree>
    <p:extLst>
      <p:ext uri="{BB962C8B-B14F-4D97-AF65-F5344CB8AC3E}">
        <p14:creationId xmlns:p14="http://schemas.microsoft.com/office/powerpoint/2010/main" val="1324049325"/>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 TargetMode="External" /><Relationship Id="rId2" Type="http://schemas.openxmlformats.org/officeDocument/2006/relationships/hyperlink" Target="https://www.geeksforgeeks.org/" TargetMode="Externa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57296-60F9-57E1-4CDF-19FBD00592FF}"/>
              </a:ext>
            </a:extLst>
          </p:cNvPr>
          <p:cNvSpPr>
            <a:spLocks noGrp="1"/>
          </p:cNvSpPr>
          <p:nvPr>
            <p:ph type="ctrTitle"/>
          </p:nvPr>
        </p:nvSpPr>
        <p:spPr>
          <a:xfrm>
            <a:off x="3219173" y="2524539"/>
            <a:ext cx="6815669" cy="1515533"/>
          </a:xfrm>
        </p:spPr>
        <p:txBody>
          <a:bodyPr>
            <a:normAutofit fontScale="90000"/>
          </a:bodyPr>
          <a:lstStyle/>
          <a:p>
            <a:r>
              <a:rPr lang="en-IN" b="1" dirty="0"/>
              <a:t>SMART VILLAGE MANAGEMENT SYSTEM</a:t>
            </a:r>
            <a:br>
              <a:rPr lang="en-IN" dirty="0"/>
            </a:br>
            <a:r>
              <a:rPr lang="en-IN" dirty="0"/>
              <a:t>(Project Report)</a:t>
            </a:r>
          </a:p>
        </p:txBody>
      </p:sp>
      <p:sp>
        <p:nvSpPr>
          <p:cNvPr id="3" name="Subtitle 2">
            <a:extLst>
              <a:ext uri="{FF2B5EF4-FFF2-40B4-BE49-F238E27FC236}">
                <a16:creationId xmlns:a16="http://schemas.microsoft.com/office/drawing/2014/main" id="{77CA41D2-7BF8-1CD5-8C54-434F925984A5}"/>
              </a:ext>
            </a:extLst>
          </p:cNvPr>
          <p:cNvSpPr>
            <a:spLocks noGrp="1"/>
          </p:cNvSpPr>
          <p:nvPr>
            <p:ph type="subTitle" idx="1"/>
          </p:nvPr>
        </p:nvSpPr>
        <p:spPr>
          <a:xfrm>
            <a:off x="1554737" y="4559128"/>
            <a:ext cx="10144539" cy="2530405"/>
          </a:xfrm>
        </p:spPr>
        <p:txBody>
          <a:bodyPr>
            <a:normAutofit/>
          </a:bodyPr>
          <a:lstStyle/>
          <a:p>
            <a:r>
              <a:rPr lang="en-US" dirty="0"/>
              <a:t>Submitted by:</a:t>
            </a:r>
          </a:p>
          <a:p>
            <a:r>
              <a:rPr lang="en-US" dirty="0"/>
              <a:t>Department of Computer Science and Engineering</a:t>
            </a:r>
            <a:br>
              <a:rPr lang="en-US" dirty="0"/>
            </a:br>
            <a:r>
              <a:rPr lang="en-US" dirty="0"/>
              <a:t>Pragati Engineering College</a:t>
            </a:r>
          </a:p>
          <a:p>
            <a:endParaRPr lang="en-IN" dirty="0"/>
          </a:p>
        </p:txBody>
      </p:sp>
    </p:spTree>
    <p:extLst>
      <p:ext uri="{BB962C8B-B14F-4D97-AF65-F5344CB8AC3E}">
        <p14:creationId xmlns:p14="http://schemas.microsoft.com/office/powerpoint/2010/main" val="3421925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5778-DCC2-CAFF-F288-330B458A20D9}"/>
              </a:ext>
            </a:extLst>
          </p:cNvPr>
          <p:cNvSpPr>
            <a:spLocks noGrp="1"/>
          </p:cNvSpPr>
          <p:nvPr>
            <p:ph type="title"/>
          </p:nvPr>
        </p:nvSpPr>
        <p:spPr/>
        <p:txBody>
          <a:bodyPr>
            <a:normAutofit/>
          </a:bodyPr>
          <a:lstStyle/>
          <a:p>
            <a:r>
              <a:rPr lang="en-US" b="1" dirty="0"/>
              <a:t> ABSTRACT</a:t>
            </a:r>
            <a:br>
              <a:rPr lang="en-US" b="1" dirty="0"/>
            </a:br>
            <a:endParaRPr lang="en-IN" dirty="0"/>
          </a:p>
        </p:txBody>
      </p:sp>
      <p:sp>
        <p:nvSpPr>
          <p:cNvPr id="3" name="Content Placeholder 2">
            <a:extLst>
              <a:ext uri="{FF2B5EF4-FFF2-40B4-BE49-F238E27FC236}">
                <a16:creationId xmlns:a16="http://schemas.microsoft.com/office/drawing/2014/main" id="{B77BBD86-B3B3-2CB2-0035-50B0CD3429FC}"/>
              </a:ext>
            </a:extLst>
          </p:cNvPr>
          <p:cNvSpPr>
            <a:spLocks noGrp="1"/>
          </p:cNvSpPr>
          <p:nvPr>
            <p:ph idx="1"/>
          </p:nvPr>
        </p:nvSpPr>
        <p:spPr/>
        <p:txBody>
          <a:bodyPr>
            <a:normAutofit fontScale="92500"/>
          </a:bodyPr>
          <a:lstStyle/>
          <a:p>
            <a:r>
              <a:rPr lang="en-US" dirty="0"/>
              <a:t>The Smart Village Management System is a C++-based application designed to manage essential village data efficiently using data structures. The system focuses on handling citizen records, complaints, and resource management such as water, electricity, and waste. It uses linked lists for dynamic memory allocation and efficient data handling. The system is menu-driven and user-friendly, allowing village management authorities to store, retrieve, and update data easily. This project demonstrates the practical application of data structures in solving real-world problems related to rural administration.</a:t>
            </a:r>
          </a:p>
          <a:p>
            <a:endParaRPr lang="en-IN" dirty="0"/>
          </a:p>
        </p:txBody>
      </p:sp>
    </p:spTree>
    <p:extLst>
      <p:ext uri="{BB962C8B-B14F-4D97-AF65-F5344CB8AC3E}">
        <p14:creationId xmlns:p14="http://schemas.microsoft.com/office/powerpoint/2010/main" val="240067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19063-2FB1-FA2B-B535-898A702BE240}"/>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F2165C1-BB99-B0FF-9120-E593F854A136}"/>
              </a:ext>
            </a:extLst>
          </p:cNvPr>
          <p:cNvSpPr>
            <a:spLocks noGrp="1"/>
          </p:cNvSpPr>
          <p:nvPr>
            <p:ph idx="1"/>
          </p:nvPr>
        </p:nvSpPr>
        <p:spPr/>
        <p:txBody>
          <a:bodyPr>
            <a:normAutofit fontScale="92500" lnSpcReduction="20000"/>
          </a:bodyPr>
          <a:lstStyle/>
          <a:p>
            <a:r>
              <a:rPr lang="en-US" dirty="0"/>
              <a:t>The Smart Village Management System is developed to digitize and simplify village administration tasks. Traditionally, village records are maintained manually, which leads to inefficiency and data loss. This system provides a structured way to manage citizen details, complaints, and resource usage.</a:t>
            </a:r>
          </a:p>
          <a:p>
            <a:r>
              <a:rPr lang="en-US" b="1" dirty="0"/>
              <a:t>Platform Used</a:t>
            </a:r>
          </a:p>
          <a:p>
            <a:r>
              <a:rPr lang="en-US" dirty="0"/>
              <a:t>Programming Language: C++ </a:t>
            </a:r>
          </a:p>
          <a:p>
            <a:r>
              <a:rPr lang="en-US" dirty="0"/>
              <a:t>Platform: Console-based application </a:t>
            </a:r>
          </a:p>
          <a:p>
            <a:r>
              <a:rPr lang="en-US" dirty="0"/>
              <a:t>Data Structure: Linked Lists </a:t>
            </a:r>
          </a:p>
          <a:p>
            <a:endParaRPr lang="en-IN" dirty="0"/>
          </a:p>
        </p:txBody>
      </p:sp>
    </p:spTree>
    <p:extLst>
      <p:ext uri="{BB962C8B-B14F-4D97-AF65-F5344CB8AC3E}">
        <p14:creationId xmlns:p14="http://schemas.microsoft.com/office/powerpoint/2010/main" val="2508422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B105-83C8-79DD-BF31-7BC2D426A2FF}"/>
              </a:ext>
            </a:extLst>
          </p:cNvPr>
          <p:cNvSpPr>
            <a:spLocks noGrp="1"/>
          </p:cNvSpPr>
          <p:nvPr>
            <p:ph type="title"/>
          </p:nvPr>
        </p:nvSpPr>
        <p:spPr>
          <a:xfrm>
            <a:off x="1294362" y="526224"/>
            <a:ext cx="9603275" cy="1049235"/>
          </a:xfrm>
        </p:spPr>
        <p:txBody>
          <a:bodyPr/>
          <a:lstStyle/>
          <a:p>
            <a:r>
              <a:rPr lang="en-IN" dirty="0"/>
              <a:t>OBJECTIVES</a:t>
            </a:r>
          </a:p>
        </p:txBody>
      </p:sp>
      <p:sp>
        <p:nvSpPr>
          <p:cNvPr id="4" name="Rectangle 1">
            <a:extLst>
              <a:ext uri="{FF2B5EF4-FFF2-40B4-BE49-F238E27FC236}">
                <a16:creationId xmlns:a16="http://schemas.microsoft.com/office/drawing/2014/main" id="{C8C94D66-B660-92DE-8A41-E38D38D9D10F}"/>
              </a:ext>
            </a:extLst>
          </p:cNvPr>
          <p:cNvSpPr>
            <a:spLocks noGrp="1" noChangeArrowheads="1"/>
          </p:cNvSpPr>
          <p:nvPr>
            <p:ph idx="1"/>
          </p:nvPr>
        </p:nvSpPr>
        <p:spPr bwMode="auto">
          <a:xfrm>
            <a:off x="1479274" y="1780140"/>
            <a:ext cx="102472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To maintain citizen records efficiently </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To manage and track complaints </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To monitor water and electricity usage </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To record waste management data </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To demonstrate the use of linked lists in real applications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2049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02B4-F891-CBB0-9F7F-F5D0FB55AF7E}"/>
              </a:ext>
            </a:extLst>
          </p:cNvPr>
          <p:cNvSpPr>
            <a:spLocks noGrp="1"/>
          </p:cNvSpPr>
          <p:nvPr>
            <p:ph type="title"/>
          </p:nvPr>
        </p:nvSpPr>
        <p:spPr/>
        <p:txBody>
          <a:bodyPr/>
          <a:lstStyle/>
          <a:p>
            <a:r>
              <a:rPr lang="en-IN" dirty="0"/>
              <a:t>REQUIREMENTS</a:t>
            </a:r>
          </a:p>
        </p:txBody>
      </p:sp>
      <p:sp>
        <p:nvSpPr>
          <p:cNvPr id="3" name="Content Placeholder 2">
            <a:extLst>
              <a:ext uri="{FF2B5EF4-FFF2-40B4-BE49-F238E27FC236}">
                <a16:creationId xmlns:a16="http://schemas.microsoft.com/office/drawing/2014/main" id="{8BC24440-2BC7-02A5-1C8E-92257C23A774}"/>
              </a:ext>
            </a:extLst>
          </p:cNvPr>
          <p:cNvSpPr>
            <a:spLocks noGrp="1"/>
          </p:cNvSpPr>
          <p:nvPr>
            <p:ph idx="1"/>
          </p:nvPr>
        </p:nvSpPr>
        <p:spPr/>
        <p:txBody>
          <a:bodyPr/>
          <a:lstStyle/>
          <a:p>
            <a:r>
              <a:rPr lang="en-IN" b="1" dirty="0"/>
              <a:t>Software Requirements</a:t>
            </a:r>
          </a:p>
          <a:p>
            <a:r>
              <a:rPr lang="en-IN" dirty="0"/>
              <a:t>C++ Compiler (GCC / Turbo C++) </a:t>
            </a:r>
          </a:p>
          <a:p>
            <a:r>
              <a:rPr lang="en-IN" dirty="0"/>
              <a:t>Operating System: Windows/Linux </a:t>
            </a:r>
          </a:p>
          <a:p>
            <a:r>
              <a:rPr lang="en-IN" b="1" dirty="0"/>
              <a:t>Hardware Requirements</a:t>
            </a:r>
          </a:p>
          <a:p>
            <a:r>
              <a:rPr lang="en-IN" dirty="0"/>
              <a:t>Minimum 512 MB RAM </a:t>
            </a:r>
          </a:p>
          <a:p>
            <a:r>
              <a:rPr lang="en-IN" dirty="0"/>
              <a:t>Basic computer system</a:t>
            </a:r>
          </a:p>
          <a:p>
            <a:endParaRPr lang="en-IN" dirty="0"/>
          </a:p>
        </p:txBody>
      </p:sp>
    </p:spTree>
    <p:extLst>
      <p:ext uri="{BB962C8B-B14F-4D97-AF65-F5344CB8AC3E}">
        <p14:creationId xmlns:p14="http://schemas.microsoft.com/office/powerpoint/2010/main" val="3738713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EFA8D-9D83-D077-A6CA-EE9D0365B842}"/>
              </a:ext>
            </a:extLst>
          </p:cNvPr>
          <p:cNvSpPr>
            <a:spLocks noGrp="1"/>
          </p:cNvSpPr>
          <p:nvPr>
            <p:ph type="title"/>
          </p:nvPr>
        </p:nvSpPr>
        <p:spPr>
          <a:xfrm>
            <a:off x="-1698171" y="1188217"/>
            <a:ext cx="10018713" cy="1752599"/>
          </a:xfrm>
        </p:spPr>
        <p:txBody>
          <a:bodyPr/>
          <a:lstStyle/>
          <a:p>
            <a:r>
              <a:rPr lang="en-IN" dirty="0"/>
              <a:t>ALGORITHM</a:t>
            </a:r>
          </a:p>
        </p:txBody>
      </p:sp>
      <p:sp>
        <p:nvSpPr>
          <p:cNvPr id="3" name="Content Placeholder 2">
            <a:extLst>
              <a:ext uri="{FF2B5EF4-FFF2-40B4-BE49-F238E27FC236}">
                <a16:creationId xmlns:a16="http://schemas.microsoft.com/office/drawing/2014/main" id="{9E46E337-6384-8796-D701-5B2D971FB560}"/>
              </a:ext>
            </a:extLst>
          </p:cNvPr>
          <p:cNvSpPr>
            <a:spLocks noGrp="1"/>
          </p:cNvSpPr>
          <p:nvPr>
            <p:ph idx="1"/>
          </p:nvPr>
        </p:nvSpPr>
        <p:spPr>
          <a:xfrm>
            <a:off x="5652451" y="710648"/>
            <a:ext cx="10515600" cy="5436704"/>
          </a:xfrm>
        </p:spPr>
        <p:txBody>
          <a:bodyPr>
            <a:noAutofit/>
          </a:bodyPr>
          <a:lstStyle/>
          <a:p>
            <a:r>
              <a:rPr lang="en-IN" sz="1100" dirty="0">
                <a:latin typeface="Bahnschrift SemiLight" panose="020B0502040204020203" pitchFamily="34" charset="0"/>
              </a:rPr>
              <a:t>1. Start</a:t>
            </a:r>
          </a:p>
          <a:p>
            <a:r>
              <a:rPr lang="en-IN" sz="1100" dirty="0">
                <a:latin typeface="Bahnschrift SemiLight" panose="020B0502040204020203" pitchFamily="34" charset="0"/>
              </a:rPr>
              <a:t>2. Initialize all head pointers to NULL</a:t>
            </a:r>
          </a:p>
          <a:p>
            <a:r>
              <a:rPr lang="en-IN" sz="1100" dirty="0">
                <a:latin typeface="Bahnschrift SemiLight" panose="020B0502040204020203" pitchFamily="34" charset="0"/>
              </a:rPr>
              <a:t>3. Display main menu</a:t>
            </a:r>
          </a:p>
          <a:p>
            <a:r>
              <a:rPr lang="en-IN" sz="1100" dirty="0">
                <a:latin typeface="Bahnschrift SemiLight" panose="020B0502040204020203" pitchFamily="34" charset="0"/>
              </a:rPr>
              <a:t>4. Read user choice</a:t>
            </a:r>
          </a:p>
          <a:p>
            <a:endParaRPr lang="en-IN" sz="1100" dirty="0">
              <a:latin typeface="Bahnschrift SemiLight" panose="020B0502040204020203" pitchFamily="34" charset="0"/>
            </a:endParaRPr>
          </a:p>
          <a:p>
            <a:r>
              <a:rPr lang="en-IN" sz="1100" dirty="0">
                <a:latin typeface="Bahnschrift SemiLight" panose="020B0502040204020203" pitchFamily="34" charset="0"/>
              </a:rPr>
              <a:t>5. If choice = 1 (Citizen)</a:t>
            </a:r>
          </a:p>
          <a:p>
            <a:r>
              <a:rPr lang="en-IN" sz="1100" dirty="0">
                <a:latin typeface="Bahnschrift SemiLight" panose="020B0502040204020203" pitchFamily="34" charset="0"/>
              </a:rPr>
              <a:t>   5.1 Display sub-menu</a:t>
            </a:r>
          </a:p>
          <a:p>
            <a:r>
              <a:rPr lang="en-IN" sz="1100" dirty="0">
                <a:latin typeface="Bahnschrift SemiLight" panose="020B0502040204020203" pitchFamily="34" charset="0"/>
              </a:rPr>
              <a:t>   5.2 If Add → create node → insert at beginning</a:t>
            </a:r>
          </a:p>
          <a:p>
            <a:r>
              <a:rPr lang="en-IN" sz="1100" dirty="0">
                <a:latin typeface="Bahnschrift SemiLight" panose="020B0502040204020203" pitchFamily="34" charset="0"/>
              </a:rPr>
              <a:t>   5.3 If Display → traverse list → print data</a:t>
            </a:r>
          </a:p>
          <a:p>
            <a:endParaRPr lang="en-IN" sz="1100" dirty="0">
              <a:latin typeface="Bahnschrift SemiLight" panose="020B0502040204020203" pitchFamily="34" charset="0"/>
            </a:endParaRPr>
          </a:p>
          <a:p>
            <a:r>
              <a:rPr lang="en-IN" sz="1100" dirty="0">
                <a:latin typeface="Bahnschrift SemiLight" panose="020B0502040204020203" pitchFamily="34" charset="0"/>
              </a:rPr>
              <a:t>6. If choice = 2 (Complaint)</a:t>
            </a:r>
          </a:p>
          <a:p>
            <a:r>
              <a:rPr lang="en-IN" sz="1100" dirty="0">
                <a:latin typeface="Bahnschrift SemiLight" panose="020B0502040204020203" pitchFamily="34" charset="0"/>
              </a:rPr>
              <a:t>   6.1 Display sub-menu</a:t>
            </a:r>
          </a:p>
          <a:p>
            <a:r>
              <a:rPr lang="en-IN" sz="1100" dirty="0">
                <a:latin typeface="Bahnschrift SemiLight" panose="020B0502040204020203" pitchFamily="34" charset="0"/>
              </a:rPr>
              <a:t>   6.2 If Add → create doubly linked node → insert at head</a:t>
            </a:r>
          </a:p>
          <a:p>
            <a:r>
              <a:rPr lang="en-IN" sz="1100" dirty="0">
                <a:latin typeface="Bahnschrift SemiLight" panose="020B0502040204020203" pitchFamily="34" charset="0"/>
              </a:rPr>
              <a:t>   6.3 If Display → traverse → print</a:t>
            </a:r>
          </a:p>
          <a:p>
            <a:r>
              <a:rPr lang="en-IN" sz="1100" dirty="0">
                <a:latin typeface="Bahnschrift SemiLight" panose="020B0502040204020203" pitchFamily="34" charset="0"/>
              </a:rPr>
              <a:t>   6.4 If Update → search by ID → update status</a:t>
            </a:r>
          </a:p>
          <a:p>
            <a:endParaRPr lang="en-IN" sz="1100" dirty="0">
              <a:latin typeface="Bahnschrift SemiLight" panose="020B0502040204020203" pitchFamily="34" charset="0"/>
            </a:endParaRPr>
          </a:p>
          <a:p>
            <a:r>
              <a:rPr lang="en-IN" sz="1100" dirty="0">
                <a:latin typeface="Bahnschrift SemiLight" panose="020B0502040204020203" pitchFamily="34" charset="0"/>
              </a:rPr>
              <a:t>7. If choice = 3 (Water)</a:t>
            </a:r>
          </a:p>
          <a:p>
            <a:r>
              <a:rPr lang="en-IN" sz="1100" dirty="0">
                <a:latin typeface="Bahnschrift SemiLight" panose="020B0502040204020203" pitchFamily="34" charset="0"/>
              </a:rPr>
              <a:t>   7.1 Input consumer ID and units</a:t>
            </a:r>
          </a:p>
          <a:p>
            <a:r>
              <a:rPr lang="en-IN" sz="1100" dirty="0">
                <a:latin typeface="Bahnschrift SemiLight" panose="020B0502040204020203" pitchFamily="34" charset="0"/>
              </a:rPr>
              <a:t>   7.2 Calculate bill = units × 2.5</a:t>
            </a:r>
          </a:p>
          <a:p>
            <a:r>
              <a:rPr lang="en-IN" sz="1100" dirty="0">
                <a:latin typeface="Bahnschrift SemiLight" panose="020B0502040204020203" pitchFamily="34" charset="0"/>
              </a:rPr>
              <a:t>   7.3 Insert into linked list</a:t>
            </a:r>
          </a:p>
          <a:p>
            <a:r>
              <a:rPr lang="en-IN" sz="1100" dirty="0">
                <a:latin typeface="Bahnschrift SemiLight" panose="020B0502040204020203" pitchFamily="34" charset="0"/>
              </a:rPr>
              <a:t>   7.4 Display records</a:t>
            </a:r>
          </a:p>
        </p:txBody>
      </p:sp>
    </p:spTree>
    <p:extLst>
      <p:ext uri="{BB962C8B-B14F-4D97-AF65-F5344CB8AC3E}">
        <p14:creationId xmlns:p14="http://schemas.microsoft.com/office/powerpoint/2010/main" val="274364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B677-1832-3249-845C-80344BFA4213}"/>
              </a:ext>
            </a:extLst>
          </p:cNvPr>
          <p:cNvSpPr>
            <a:spLocks noGrp="1"/>
          </p:cNvSpPr>
          <p:nvPr>
            <p:ph type="title"/>
          </p:nvPr>
        </p:nvSpPr>
        <p:spPr/>
        <p:txBody>
          <a:bodyPr>
            <a:normAutofit/>
          </a:bodyPr>
          <a:lstStyle/>
          <a:p>
            <a:r>
              <a:rPr lang="en-IN" dirty="0"/>
              <a:t>.</a:t>
            </a:r>
            <a:br>
              <a:rPr lang="en-IN" dirty="0"/>
            </a:br>
            <a:endParaRPr lang="en-IN" dirty="0"/>
          </a:p>
        </p:txBody>
      </p:sp>
      <p:sp>
        <p:nvSpPr>
          <p:cNvPr id="3" name="Content Placeholder 2">
            <a:extLst>
              <a:ext uri="{FF2B5EF4-FFF2-40B4-BE49-F238E27FC236}">
                <a16:creationId xmlns:a16="http://schemas.microsoft.com/office/drawing/2014/main" id="{0692CAC6-4AAE-7EC0-D031-04CA17D4094A}"/>
              </a:ext>
            </a:extLst>
          </p:cNvPr>
          <p:cNvSpPr>
            <a:spLocks noGrp="1"/>
          </p:cNvSpPr>
          <p:nvPr>
            <p:ph idx="1"/>
          </p:nvPr>
        </p:nvSpPr>
        <p:spPr>
          <a:xfrm>
            <a:off x="6493667" y="854572"/>
            <a:ext cx="10753725" cy="3766185"/>
          </a:xfrm>
        </p:spPr>
        <p:txBody>
          <a:bodyPr>
            <a:normAutofit fontScale="47500" lnSpcReduction="20000"/>
          </a:bodyPr>
          <a:lstStyle/>
          <a:p>
            <a:r>
              <a:rPr lang="en-US" dirty="0"/>
              <a:t>8. If choice = 4 (Electricity)</a:t>
            </a:r>
          </a:p>
          <a:p>
            <a:r>
              <a:rPr lang="en-US" dirty="0"/>
              <a:t>   8.1 Input units</a:t>
            </a:r>
          </a:p>
          <a:p>
            <a:r>
              <a:rPr lang="en-US" dirty="0"/>
              <a:t>   8.2 If units ≤ 100 → bill = units × 3</a:t>
            </a:r>
          </a:p>
          <a:p>
            <a:r>
              <a:rPr lang="en-US" dirty="0"/>
              <a:t>   8.3 Else if units ≤ 300 → bill = 100 × 3 + (units − 100) × 5</a:t>
            </a:r>
          </a:p>
          <a:p>
            <a:r>
              <a:rPr lang="en-US" dirty="0"/>
              <a:t>   8.4 Else → bill = 100 × 3 + 200 × 5 + (units − 300) × 7</a:t>
            </a:r>
          </a:p>
          <a:p>
            <a:r>
              <a:rPr lang="en-US" dirty="0"/>
              <a:t>   8.5 Store in linked list</a:t>
            </a:r>
          </a:p>
          <a:p>
            <a:r>
              <a:rPr lang="en-US" dirty="0"/>
              <a:t>   8.6 Display records</a:t>
            </a:r>
          </a:p>
          <a:p>
            <a:endParaRPr lang="en-US" dirty="0"/>
          </a:p>
          <a:p>
            <a:r>
              <a:rPr lang="en-US" dirty="0"/>
              <a:t>9. If choice = 5 (Waste)</a:t>
            </a:r>
          </a:p>
          <a:p>
            <a:r>
              <a:rPr lang="en-US" dirty="0"/>
              <a:t>   9.1 Input waste details</a:t>
            </a:r>
          </a:p>
          <a:p>
            <a:r>
              <a:rPr lang="en-US" dirty="0"/>
              <a:t>   9.2 Insert node into linked list</a:t>
            </a:r>
          </a:p>
          <a:p>
            <a:r>
              <a:rPr lang="en-US" dirty="0"/>
              <a:t>   9.3 Display list</a:t>
            </a:r>
          </a:p>
          <a:p>
            <a:endParaRPr lang="en-US" dirty="0"/>
          </a:p>
          <a:p>
            <a:r>
              <a:rPr lang="en-US" dirty="0"/>
              <a:t>10. Repeat steps until Exit is selected</a:t>
            </a:r>
          </a:p>
          <a:p>
            <a:r>
              <a:rPr lang="en-US" dirty="0"/>
              <a:t>11. Stop</a:t>
            </a:r>
            <a:endParaRPr lang="en-IN" dirty="0"/>
          </a:p>
        </p:txBody>
      </p:sp>
      <p:sp>
        <p:nvSpPr>
          <p:cNvPr id="7" name="TextBox 6">
            <a:extLst>
              <a:ext uri="{FF2B5EF4-FFF2-40B4-BE49-F238E27FC236}">
                <a16:creationId xmlns:a16="http://schemas.microsoft.com/office/drawing/2014/main" id="{380EDC22-94C1-ABA6-E8D8-B4FD81D61CFE}"/>
              </a:ext>
            </a:extLst>
          </p:cNvPr>
          <p:cNvSpPr txBox="1"/>
          <p:nvPr/>
        </p:nvSpPr>
        <p:spPr>
          <a:xfrm>
            <a:off x="2311121" y="1562099"/>
            <a:ext cx="8621484" cy="584775"/>
          </a:xfrm>
          <a:prstGeom prst="rect">
            <a:avLst/>
          </a:prstGeom>
          <a:noFill/>
        </p:spPr>
        <p:txBody>
          <a:bodyPr wrap="square">
            <a:spAutoFit/>
          </a:bodyPr>
          <a:lstStyle/>
          <a:p>
            <a:r>
              <a:rPr lang="en-IN" sz="3200" dirty="0"/>
              <a:t>ALGORITHM</a:t>
            </a:r>
          </a:p>
        </p:txBody>
      </p:sp>
    </p:spTree>
    <p:extLst>
      <p:ext uri="{BB962C8B-B14F-4D97-AF65-F5344CB8AC3E}">
        <p14:creationId xmlns:p14="http://schemas.microsoft.com/office/powerpoint/2010/main" val="3701396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AE5D6-5BAF-D919-8FFF-8A79B2B84EF1}"/>
              </a:ext>
            </a:extLst>
          </p:cNvPr>
          <p:cNvSpPr>
            <a:spLocks noGrp="1"/>
          </p:cNvSpPr>
          <p:nvPr>
            <p:ph type="title"/>
          </p:nvPr>
        </p:nvSpPr>
        <p:spPr>
          <a:xfrm>
            <a:off x="1374980" y="190500"/>
            <a:ext cx="10018713" cy="1752599"/>
          </a:xfrm>
        </p:spPr>
        <p:txBody>
          <a:bodyPr/>
          <a:lstStyle/>
          <a:p>
            <a:r>
              <a:rPr lang="en-IN" dirty="0"/>
              <a:t>FLOWCHART</a:t>
            </a:r>
          </a:p>
        </p:txBody>
      </p:sp>
      <p:pic>
        <p:nvPicPr>
          <p:cNvPr id="5" name="Content Placeholder 4">
            <a:extLst>
              <a:ext uri="{FF2B5EF4-FFF2-40B4-BE49-F238E27FC236}">
                <a16:creationId xmlns:a16="http://schemas.microsoft.com/office/drawing/2014/main" id="{56299CB2-0151-94EB-3207-EB806D03E2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8333" y="1639957"/>
            <a:ext cx="8864772" cy="4835330"/>
          </a:xfrm>
          <a:prstGeom prst="rect">
            <a:avLst/>
          </a:prstGeom>
        </p:spPr>
      </p:pic>
    </p:spTree>
    <p:extLst>
      <p:ext uri="{BB962C8B-B14F-4D97-AF65-F5344CB8AC3E}">
        <p14:creationId xmlns:p14="http://schemas.microsoft.com/office/powerpoint/2010/main" val="2679757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BDB0-7202-C952-30FF-D9328899C5E7}"/>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25EAA4FB-0C7F-28B2-A887-958E3C323855}"/>
              </a:ext>
            </a:extLst>
          </p:cNvPr>
          <p:cNvSpPr>
            <a:spLocks noGrp="1"/>
          </p:cNvSpPr>
          <p:nvPr>
            <p:ph idx="1"/>
          </p:nvPr>
        </p:nvSpPr>
        <p:spPr/>
        <p:txBody>
          <a:bodyPr>
            <a:normAutofit lnSpcReduction="10000"/>
          </a:bodyPr>
          <a:lstStyle/>
          <a:p>
            <a:r>
              <a:rPr lang="en-US" dirty="0"/>
              <a:t>The system is implemented using linked lists to allow dynamic memory allocation. Each module is designed independently:</a:t>
            </a:r>
          </a:p>
          <a:p>
            <a:r>
              <a:rPr lang="en-US" dirty="0"/>
              <a:t>Citizen → Singly Linked List </a:t>
            </a:r>
          </a:p>
          <a:p>
            <a:r>
              <a:rPr lang="en-US" dirty="0"/>
              <a:t>Complaint → Doubly Linked List </a:t>
            </a:r>
          </a:p>
          <a:p>
            <a:r>
              <a:rPr lang="en-US" dirty="0"/>
              <a:t>Water/Electricity/Waste → Singly Linked Lists </a:t>
            </a:r>
          </a:p>
          <a:p>
            <a:r>
              <a:rPr lang="en-US" dirty="0"/>
              <a:t>Operations like insertion and traversal are used to manage data efficiently. The system follows a modular and menu-driven approach.</a:t>
            </a:r>
          </a:p>
          <a:p>
            <a:endParaRPr lang="en-IN" dirty="0"/>
          </a:p>
        </p:txBody>
      </p:sp>
    </p:spTree>
    <p:extLst>
      <p:ext uri="{BB962C8B-B14F-4D97-AF65-F5344CB8AC3E}">
        <p14:creationId xmlns:p14="http://schemas.microsoft.com/office/powerpoint/2010/main" val="4044616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616261-CA56-2AFD-2384-27E7F20F6091}"/>
              </a:ext>
            </a:extLst>
          </p:cNvPr>
          <p:cNvSpPr txBox="1"/>
          <p:nvPr/>
        </p:nvSpPr>
        <p:spPr>
          <a:xfrm>
            <a:off x="1245996" y="1105638"/>
            <a:ext cx="12108263" cy="5355312"/>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#include &lt;iostream&gt;</a:t>
            </a:r>
          </a:p>
          <a:p>
            <a:pPr algn="l">
              <a:buNone/>
            </a:pPr>
            <a:r>
              <a:rPr lang="en-IN" b="0" i="0" dirty="0">
                <a:solidFill>
                  <a:srgbClr val="000000"/>
                </a:solidFill>
                <a:effectLst/>
                <a:latin typeface="Courier New" panose="02070309020205020404" pitchFamily="49" charset="0"/>
              </a:rPr>
              <a:t>#include &lt;string&gt;</a:t>
            </a:r>
          </a:p>
          <a:p>
            <a:pPr algn="l">
              <a:buNone/>
            </a:pPr>
            <a:r>
              <a:rPr lang="en-IN" b="0" i="0" dirty="0">
                <a:solidFill>
                  <a:srgbClr val="000000"/>
                </a:solidFill>
                <a:effectLst/>
                <a:latin typeface="Courier New" panose="02070309020205020404" pitchFamily="49" charset="0"/>
              </a:rPr>
              <a:t>using namespace std;</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struct Citizen {</a:t>
            </a:r>
          </a:p>
          <a:p>
            <a:pPr algn="l">
              <a:buNone/>
            </a:pPr>
            <a:r>
              <a:rPr lang="en-IN" b="0" i="0" dirty="0">
                <a:solidFill>
                  <a:srgbClr val="000000"/>
                </a:solidFill>
                <a:effectLst/>
                <a:latin typeface="Courier New" panose="02070309020205020404" pitchFamily="49" charset="0"/>
              </a:rPr>
              <a:t>    int id;</a:t>
            </a:r>
          </a:p>
          <a:p>
            <a:pPr algn="l">
              <a:buNone/>
            </a:pPr>
            <a:r>
              <a:rPr lang="en-IN" b="0" i="0" dirty="0">
                <a:solidFill>
                  <a:srgbClr val="000000"/>
                </a:solidFill>
                <a:effectLst/>
                <a:latin typeface="Courier New" panose="02070309020205020404" pitchFamily="49" charset="0"/>
              </a:rPr>
              <a:t>    int age;</a:t>
            </a:r>
          </a:p>
          <a:p>
            <a:pPr algn="l">
              <a:buNone/>
            </a:pPr>
            <a:r>
              <a:rPr lang="en-IN" b="0" i="0" dirty="0">
                <a:solidFill>
                  <a:srgbClr val="000000"/>
                </a:solidFill>
                <a:effectLst/>
                <a:latin typeface="Courier New" panose="02070309020205020404" pitchFamily="49" charset="0"/>
              </a:rPr>
              <a:t>    string name;</a:t>
            </a:r>
          </a:p>
          <a:p>
            <a:pPr algn="l">
              <a:buNone/>
            </a:pPr>
            <a:r>
              <a:rPr lang="en-IN" b="0" i="0" dirty="0">
                <a:solidFill>
                  <a:srgbClr val="000000"/>
                </a:solidFill>
                <a:effectLst/>
                <a:latin typeface="Courier New" panose="02070309020205020404" pitchFamily="49" charset="0"/>
              </a:rPr>
              <a:t>    Citizen* next;</a:t>
            </a:r>
          </a:p>
          <a:p>
            <a:pPr algn="l">
              <a:buNone/>
            </a:pP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struct Complaint {</a:t>
            </a:r>
          </a:p>
          <a:p>
            <a:pPr algn="l">
              <a:buNone/>
            </a:pPr>
            <a:r>
              <a:rPr lang="en-IN" b="0" i="0" dirty="0">
                <a:solidFill>
                  <a:srgbClr val="000000"/>
                </a:solidFill>
                <a:effectLst/>
                <a:latin typeface="Courier New" panose="02070309020205020404" pitchFamily="49" charset="0"/>
              </a:rPr>
              <a:t>    int id;</a:t>
            </a:r>
          </a:p>
          <a:p>
            <a:pPr algn="l">
              <a:buNone/>
            </a:pPr>
            <a:r>
              <a:rPr lang="en-IN" b="0" i="0" dirty="0">
                <a:solidFill>
                  <a:srgbClr val="000000"/>
                </a:solidFill>
                <a:effectLst/>
                <a:latin typeface="Courier New" panose="02070309020205020404" pitchFamily="49" charset="0"/>
              </a:rPr>
              <a:t>    string text;</a:t>
            </a:r>
          </a:p>
          <a:p>
            <a:pPr algn="l">
              <a:buNone/>
            </a:pPr>
            <a:r>
              <a:rPr lang="en-IN" b="0" i="0" dirty="0">
                <a:solidFill>
                  <a:srgbClr val="000000"/>
                </a:solidFill>
                <a:effectLst/>
                <a:latin typeface="Courier New" panose="02070309020205020404" pitchFamily="49" charset="0"/>
              </a:rPr>
              <a:t>    string status;</a:t>
            </a:r>
          </a:p>
          <a:p>
            <a:pPr algn="l">
              <a:buNone/>
            </a:pPr>
            <a:r>
              <a:rPr lang="en-IN" b="0" i="0" dirty="0">
                <a:solidFill>
                  <a:srgbClr val="000000"/>
                </a:solidFill>
                <a:effectLst/>
                <a:latin typeface="Courier New" panose="02070309020205020404" pitchFamily="49" charset="0"/>
              </a:rPr>
              <a:t>    Complaint* next;</a:t>
            </a:r>
          </a:p>
          <a:p>
            <a:pPr algn="l">
              <a:buNone/>
            </a:pPr>
            <a:r>
              <a:rPr lang="en-IN" b="0" i="0" dirty="0">
                <a:solidFill>
                  <a:srgbClr val="000000"/>
                </a:solidFill>
                <a:effectLst/>
                <a:latin typeface="Courier New" panose="02070309020205020404" pitchFamily="49" charset="0"/>
              </a:rPr>
              <a:t>    Complaint* </a:t>
            </a:r>
            <a:r>
              <a:rPr lang="en-IN" b="0" i="0" dirty="0" err="1">
                <a:solidFill>
                  <a:srgbClr val="000000"/>
                </a:solidFill>
                <a:effectLst/>
                <a:latin typeface="Courier New" panose="02070309020205020404" pitchFamily="49" charset="0"/>
              </a:rPr>
              <a:t>prev</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8E814272-62C7-08D4-17BB-09B8096A41AF}"/>
              </a:ext>
            </a:extLst>
          </p:cNvPr>
          <p:cNvSpPr txBox="1"/>
          <p:nvPr/>
        </p:nvSpPr>
        <p:spPr>
          <a:xfrm>
            <a:off x="3775668" y="897889"/>
            <a:ext cx="6192078" cy="5632311"/>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struct </a:t>
            </a: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int </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int units;</a:t>
            </a:r>
          </a:p>
          <a:p>
            <a:pPr algn="l">
              <a:buNone/>
            </a:pPr>
            <a:r>
              <a:rPr lang="en-IN" b="0" i="0" dirty="0">
                <a:solidFill>
                  <a:srgbClr val="000000"/>
                </a:solidFill>
                <a:effectLst/>
                <a:latin typeface="Courier New" panose="02070309020205020404" pitchFamily="49" charset="0"/>
              </a:rPr>
              <a:t>    float bill;</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 next;</a:t>
            </a:r>
          </a:p>
          <a:p>
            <a:pPr algn="l">
              <a:buNone/>
            </a:pP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struct </a:t>
            </a: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int </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int units;</a:t>
            </a:r>
          </a:p>
          <a:p>
            <a:pPr algn="l">
              <a:buNone/>
            </a:pPr>
            <a:r>
              <a:rPr lang="en-IN" b="0" i="0" dirty="0">
                <a:solidFill>
                  <a:srgbClr val="000000"/>
                </a:solidFill>
                <a:effectLst/>
                <a:latin typeface="Courier New" panose="02070309020205020404" pitchFamily="49" charset="0"/>
              </a:rPr>
              <a:t>    float bill;</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 next;</a:t>
            </a:r>
          </a:p>
          <a:p>
            <a:pPr algn="l">
              <a:buNone/>
            </a:pP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struct </a:t>
            </a: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int id;</a:t>
            </a:r>
          </a:p>
          <a:p>
            <a:pPr algn="l">
              <a:buNone/>
            </a:pPr>
            <a:r>
              <a:rPr lang="en-IN" b="0" i="0" dirty="0">
                <a:solidFill>
                  <a:srgbClr val="000000"/>
                </a:solidFill>
                <a:effectLst/>
                <a:latin typeface="Courier New" panose="02070309020205020404" pitchFamily="49" charset="0"/>
              </a:rPr>
              <a:t>    string type;</a:t>
            </a:r>
          </a:p>
          <a:p>
            <a:pPr algn="l">
              <a:buNone/>
            </a:pPr>
            <a:r>
              <a:rPr lang="en-IN" b="0" i="0" dirty="0">
                <a:solidFill>
                  <a:srgbClr val="000000"/>
                </a:solidFill>
                <a:effectLst/>
                <a:latin typeface="Courier New" panose="02070309020205020404" pitchFamily="49" charset="0"/>
              </a:rPr>
              <a:t>    int quantity;</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 next;</a:t>
            </a:r>
          </a:p>
          <a:p>
            <a:pPr algn="l">
              <a:buNone/>
            </a:pPr>
            <a:r>
              <a:rPr lang="en-IN" b="0" i="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19BEF72A-9994-6464-9304-FEA13F66CED2}"/>
              </a:ext>
            </a:extLst>
          </p:cNvPr>
          <p:cNvSpPr txBox="1"/>
          <p:nvPr/>
        </p:nvSpPr>
        <p:spPr>
          <a:xfrm>
            <a:off x="6938386" y="759389"/>
            <a:ext cx="6189784" cy="5632311"/>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Citizen*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 = NULL;</a:t>
            </a:r>
          </a:p>
          <a:p>
            <a:pPr algn="l">
              <a:buNone/>
            </a:pPr>
            <a:r>
              <a:rPr lang="en-IN" b="0" i="0" dirty="0">
                <a:solidFill>
                  <a:srgbClr val="000000"/>
                </a:solidFill>
                <a:effectLst/>
                <a:latin typeface="Courier New" panose="02070309020205020404" pitchFamily="49" charset="0"/>
              </a:rPr>
              <a:t>Complaint*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 = NULL;</a:t>
            </a:r>
          </a:p>
          <a:p>
            <a:pPr algn="l">
              <a:buNone/>
            </a:pP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waterHead</a:t>
            </a:r>
            <a:r>
              <a:rPr lang="en-IN" b="0" i="0" dirty="0">
                <a:solidFill>
                  <a:srgbClr val="000000"/>
                </a:solidFill>
                <a:effectLst/>
                <a:latin typeface="Courier New" panose="02070309020205020404" pitchFamily="49" charset="0"/>
              </a:rPr>
              <a:t> = NULL;</a:t>
            </a:r>
          </a:p>
          <a:p>
            <a:pPr algn="l">
              <a:buNone/>
            </a:pP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electricityHead</a:t>
            </a:r>
            <a:r>
              <a:rPr lang="en-IN" b="0" i="0" dirty="0">
                <a:solidFill>
                  <a:srgbClr val="000000"/>
                </a:solidFill>
                <a:effectLst/>
                <a:latin typeface="Courier New" panose="02070309020205020404" pitchFamily="49" charset="0"/>
              </a:rPr>
              <a:t> = NULL;</a:t>
            </a:r>
          </a:p>
          <a:p>
            <a:pPr algn="l">
              <a:buNone/>
            </a:pP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wasteHead</a:t>
            </a:r>
            <a:r>
              <a:rPr lang="en-IN" b="0" i="0" dirty="0">
                <a:solidFill>
                  <a:srgbClr val="000000"/>
                </a:solidFill>
                <a:effectLst/>
                <a:latin typeface="Courier New" panose="02070309020205020404" pitchFamily="49" charset="0"/>
              </a:rPr>
              <a:t> = NULL;</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addCitizen</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Citizen* node = new Citizen();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node-&gt;id;</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Name: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node-&gt;name;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Age: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node-&gt;age;</a:t>
            </a: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"Citizen added\n";</a:t>
            </a:r>
          </a:p>
          <a:p>
            <a:r>
              <a:rPr lang="en-IN" b="0" i="0" dirty="0">
                <a:solidFill>
                  <a:srgbClr val="000000"/>
                </a:solidFill>
                <a:effectLst/>
                <a:latin typeface="Courier New" panose="02070309020205020404" pitchFamily="49" charset="0"/>
              </a:rPr>
              <a:t>}</a:t>
            </a:r>
            <a:r>
              <a:rPr lang="en-IN" dirty="0"/>
              <a:t> </a:t>
            </a:r>
            <a:br>
              <a:rPr lang="en-IN" dirty="0"/>
            </a:br>
            <a:endParaRPr lang="en-IN" dirty="0"/>
          </a:p>
          <a:p>
            <a:endParaRPr lang="en-IN" dirty="0"/>
          </a:p>
        </p:txBody>
      </p:sp>
      <p:sp>
        <p:nvSpPr>
          <p:cNvPr id="11" name="TextBox 10">
            <a:extLst>
              <a:ext uri="{FF2B5EF4-FFF2-40B4-BE49-F238E27FC236}">
                <a16:creationId xmlns:a16="http://schemas.microsoft.com/office/drawing/2014/main" id="{32964088-EC8A-A0A0-B272-4AC0AC36FE18}"/>
              </a:ext>
            </a:extLst>
          </p:cNvPr>
          <p:cNvSpPr txBox="1"/>
          <p:nvPr/>
        </p:nvSpPr>
        <p:spPr>
          <a:xfrm>
            <a:off x="3775668" y="235467"/>
            <a:ext cx="6325436" cy="369332"/>
          </a:xfrm>
          <a:prstGeom prst="rect">
            <a:avLst/>
          </a:prstGeom>
          <a:noFill/>
        </p:spPr>
        <p:txBody>
          <a:bodyPr wrap="square">
            <a:spAutoFit/>
          </a:bodyPr>
          <a:lstStyle/>
          <a:p>
            <a:r>
              <a:rPr lang="en-IN" dirty="0"/>
              <a:t>PROJECT IMPLEMENTATION CODE</a:t>
            </a:r>
          </a:p>
        </p:txBody>
      </p:sp>
    </p:spTree>
    <p:extLst>
      <p:ext uri="{BB962C8B-B14F-4D97-AF65-F5344CB8AC3E}">
        <p14:creationId xmlns:p14="http://schemas.microsoft.com/office/powerpoint/2010/main" val="2831329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39F220-310F-C473-7168-B70ABE13346C}"/>
              </a:ext>
            </a:extLst>
          </p:cNvPr>
          <p:cNvSpPr txBox="1"/>
          <p:nvPr/>
        </p:nvSpPr>
        <p:spPr>
          <a:xfrm>
            <a:off x="1520687" y="1003852"/>
            <a:ext cx="4981990" cy="3416320"/>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addCitizen</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Citizen* node = new Citizen();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node-&gt;id;</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Name: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node-&gt;name;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Age: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node-&gt;age;</a:t>
            </a: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"Citizen added\n";</a:t>
            </a:r>
          </a:p>
          <a:p>
            <a:pPr algn="l">
              <a:buNone/>
            </a:pPr>
            <a:r>
              <a:rPr lang="en-IN" b="0" i="0" dirty="0">
                <a:solidFill>
                  <a:srgbClr val="000000"/>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2E33BC30-35EA-989F-1DC1-0606B30419FE}"/>
              </a:ext>
            </a:extLst>
          </p:cNvPr>
          <p:cNvSpPr txBox="1"/>
          <p:nvPr/>
        </p:nvSpPr>
        <p:spPr>
          <a:xfrm>
            <a:off x="6192074" y="670527"/>
            <a:ext cx="5923726" cy="4247317"/>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displayCitizens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 citizens found\n";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nCitizen</a:t>
            </a:r>
            <a:r>
              <a:rPr lang="en-IN" b="0" i="0" dirty="0">
                <a:solidFill>
                  <a:srgbClr val="000000"/>
                </a:solidFill>
                <a:effectLst/>
                <a:latin typeface="Courier New" panose="02070309020205020404" pitchFamily="49" charset="0"/>
              </a:rPr>
              <a:t> List\n";</a:t>
            </a:r>
          </a:p>
          <a:p>
            <a:pPr algn="l">
              <a:buNone/>
            </a:pPr>
            <a:r>
              <a:rPr lang="en-IN" b="0" i="0" dirty="0">
                <a:solidFill>
                  <a:srgbClr val="000000"/>
                </a:solidFill>
                <a:effectLst/>
                <a:latin typeface="Courier New" panose="02070309020205020404" pitchFamily="49" charset="0"/>
              </a:rPr>
              <a:t>    Citizen* temp = </a:t>
            </a:r>
            <a:r>
              <a:rPr lang="en-IN" b="0" i="0" dirty="0" err="1">
                <a:solidFill>
                  <a:srgbClr val="000000"/>
                </a:solidFill>
                <a:effectLst/>
                <a:latin typeface="Courier New" panose="02070309020205020404" pitchFamily="49" charset="0"/>
              </a:rPr>
              <a:t>citizenHead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temp-&gt;id &lt;&lt; " | " &lt;&lt; temp-&gt;name &lt;&lt; " | " &lt;&lt; temp-&gt;age &lt;&lt; </a:t>
            </a:r>
            <a:r>
              <a:rPr lang="en-IN" b="0" i="0" dirty="0" err="1">
                <a:solidFill>
                  <a:srgbClr val="000000"/>
                </a:solidFill>
                <a:effectLst/>
                <a:latin typeface="Courier New" panose="02070309020205020404" pitchFamily="49" charset="0"/>
              </a:rPr>
              <a:t>endl</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494026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B43C80-AA31-9200-B5FF-E16CBBC791D8}"/>
              </a:ext>
            </a:extLst>
          </p:cNvPr>
          <p:cNvSpPr txBox="1"/>
          <p:nvPr/>
        </p:nvSpPr>
        <p:spPr>
          <a:xfrm>
            <a:off x="1518203" y="640717"/>
            <a:ext cx="6097656" cy="4801314"/>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addComplaint</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Complaint* node = new Complaint();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Complaint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node-&gt;id;</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cin.ignore</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Text: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getline</a:t>
            </a:r>
            <a:r>
              <a:rPr lang="en-IN" b="0" i="0" dirty="0">
                <a:solidFill>
                  <a:srgbClr val="000000"/>
                </a:solidFill>
                <a:effectLst/>
                <a:latin typeface="Courier New" panose="02070309020205020404" pitchFamily="49" charset="0"/>
              </a:rPr>
              <a:t>(</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node-&gt;text);</a:t>
            </a:r>
          </a:p>
          <a:p>
            <a:pPr algn="l">
              <a:buNone/>
            </a:pPr>
            <a:r>
              <a:rPr lang="en-IN" b="0" i="0" dirty="0">
                <a:solidFill>
                  <a:srgbClr val="000000"/>
                </a:solidFill>
                <a:effectLst/>
                <a:latin typeface="Courier New" panose="02070309020205020404" pitchFamily="49" charset="0"/>
              </a:rPr>
              <a:t>    node-&gt;status = "Pending";</a:t>
            </a:r>
          </a:p>
          <a:p>
            <a:pPr algn="l">
              <a:buNone/>
            </a:pPr>
            <a:r>
              <a:rPr lang="en-IN" b="0" i="0" dirty="0">
                <a:solidFill>
                  <a:srgbClr val="000000"/>
                </a:solidFill>
                <a:effectLst/>
                <a:latin typeface="Courier New" panose="02070309020205020404" pitchFamily="49" charset="0"/>
              </a:rPr>
              <a:t>    node-&gt;</a:t>
            </a:r>
            <a:r>
              <a:rPr lang="en-IN" b="0" i="0" dirty="0" err="1">
                <a:solidFill>
                  <a:srgbClr val="000000"/>
                </a:solidFill>
                <a:effectLst/>
                <a:latin typeface="Courier New" panose="02070309020205020404" pitchFamily="49" charset="0"/>
              </a:rPr>
              <a:t>prev</a:t>
            </a:r>
            <a:r>
              <a:rPr lang="en-IN" b="0" i="0" dirty="0">
                <a:solidFill>
                  <a:srgbClr val="000000"/>
                </a:solidFill>
                <a:effectLst/>
                <a:latin typeface="Courier New" panose="02070309020205020404" pitchFamily="49" charset="0"/>
              </a:rPr>
              <a:t> = NULL;</a:t>
            </a: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 != NULL)</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-&gt;</a:t>
            </a:r>
            <a:r>
              <a:rPr lang="en-IN" b="0" i="0" dirty="0" err="1">
                <a:solidFill>
                  <a:srgbClr val="000000"/>
                </a:solidFill>
                <a:effectLst/>
                <a:latin typeface="Courier New" panose="02070309020205020404" pitchFamily="49" charset="0"/>
              </a:rPr>
              <a:t>prev</a:t>
            </a:r>
            <a:r>
              <a:rPr lang="en-IN" b="0" i="0" dirty="0">
                <a:solidFill>
                  <a:srgbClr val="000000"/>
                </a:solidFill>
                <a:effectLst/>
                <a:latin typeface="Courier New" panose="02070309020205020404" pitchFamily="49" charset="0"/>
              </a:rPr>
              <a:t> = node;</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"Complaint added\n";</a:t>
            </a:r>
          </a:p>
          <a:p>
            <a:pPr algn="l">
              <a:buNone/>
            </a:pPr>
            <a:r>
              <a:rPr lang="en-IN" b="0" i="0" dirty="0">
                <a:solidFill>
                  <a:srgbClr val="000000"/>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9262F893-2730-FBFC-BAC4-A6CE1E9B511C}"/>
              </a:ext>
            </a:extLst>
          </p:cNvPr>
          <p:cNvSpPr txBox="1"/>
          <p:nvPr/>
        </p:nvSpPr>
        <p:spPr>
          <a:xfrm>
            <a:off x="6214442" y="390941"/>
            <a:ext cx="6097656" cy="4247317"/>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displayComplaints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 complaints\n";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nComplaint</a:t>
            </a:r>
            <a:r>
              <a:rPr lang="en-IN" b="0" i="0" dirty="0">
                <a:solidFill>
                  <a:srgbClr val="000000"/>
                </a:solidFill>
                <a:effectLst/>
                <a:latin typeface="Courier New" panose="02070309020205020404" pitchFamily="49" charset="0"/>
              </a:rPr>
              <a:t> List\n";</a:t>
            </a:r>
          </a:p>
          <a:p>
            <a:pPr algn="l">
              <a:buNone/>
            </a:pPr>
            <a:r>
              <a:rPr lang="en-IN" b="0" i="0" dirty="0">
                <a:solidFill>
                  <a:srgbClr val="000000"/>
                </a:solidFill>
                <a:effectLst/>
                <a:latin typeface="Courier New" panose="02070309020205020404" pitchFamily="49" charset="0"/>
              </a:rPr>
              <a:t>    Complaint* temp =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temp-&gt;id &lt;&lt; " | " &lt;&lt; temp-&gt;text &lt;&lt; " | " &lt;&lt; temp-&gt;status &lt;&lt; </a:t>
            </a:r>
            <a:r>
              <a:rPr lang="en-IN" b="0" i="0" dirty="0" err="1">
                <a:solidFill>
                  <a:srgbClr val="000000"/>
                </a:solidFill>
                <a:effectLst/>
                <a:latin typeface="Courier New" panose="02070309020205020404" pitchFamily="49" charset="0"/>
              </a:rPr>
              <a:t>endl</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528835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3F7AFA-F8D1-E1C3-0E98-44E9398074D6}"/>
              </a:ext>
            </a:extLst>
          </p:cNvPr>
          <p:cNvSpPr txBox="1"/>
          <p:nvPr/>
        </p:nvSpPr>
        <p:spPr>
          <a:xfrm>
            <a:off x="119270" y="188843"/>
            <a:ext cx="9027214" cy="923330"/>
          </a:xfrm>
          <a:prstGeom prst="rect">
            <a:avLst/>
          </a:prstGeom>
          <a:noFill/>
        </p:spPr>
        <p:txBody>
          <a:bodyPr wrap="square">
            <a:spAutoFit/>
          </a:bodyPr>
          <a:lstStyle/>
          <a:p>
            <a:pPr algn="l">
              <a:buNone/>
            </a:pPr>
            <a:endParaRPr lang="en-IN" b="0" i="0" dirty="0">
              <a:solidFill>
                <a:srgbClr val="000000"/>
              </a:solidFill>
              <a:effectLst/>
              <a:latin typeface="Courier New" panose="02070309020205020404" pitchFamily="49" charset="0"/>
            </a:endParaRPr>
          </a:p>
          <a:p>
            <a:pPr>
              <a:buNone/>
            </a:pPr>
            <a:br>
              <a:rPr lang="en-IN" dirty="0"/>
            </a:br>
            <a:endParaRPr lang="en-IN" dirty="0"/>
          </a:p>
        </p:txBody>
      </p:sp>
      <p:sp>
        <p:nvSpPr>
          <p:cNvPr id="5" name="TextBox 4">
            <a:extLst>
              <a:ext uri="{FF2B5EF4-FFF2-40B4-BE49-F238E27FC236}">
                <a16:creationId xmlns:a16="http://schemas.microsoft.com/office/drawing/2014/main" id="{161C8051-AFA8-890A-C559-81FA7E028A54}"/>
              </a:ext>
            </a:extLst>
          </p:cNvPr>
          <p:cNvSpPr txBox="1"/>
          <p:nvPr/>
        </p:nvSpPr>
        <p:spPr>
          <a:xfrm>
            <a:off x="1758462" y="188843"/>
            <a:ext cx="5198165" cy="5632311"/>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updateComplaintStatus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int id;</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Complaint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id;</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Complaint* temp = </a:t>
            </a:r>
            <a:r>
              <a:rPr lang="en-IN" b="0" i="0" dirty="0" err="1">
                <a:solidFill>
                  <a:srgbClr val="000000"/>
                </a:solidFill>
                <a:effectLst/>
                <a:latin typeface="Courier New" panose="02070309020205020404" pitchFamily="49" charset="0"/>
              </a:rPr>
              <a:t>complaintHead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if (temp-&gt;id ==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new status: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temp-&gt;status;</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"Updated\n";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"Not found\n";</a:t>
            </a:r>
          </a:p>
          <a:p>
            <a:pPr algn="l">
              <a:buNone/>
            </a:pPr>
            <a:r>
              <a:rPr lang="en-IN" b="0" i="0" dirty="0">
                <a:solidFill>
                  <a:srgbClr val="000000"/>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AAF5E881-8904-DBE1-9D11-B71D0BB11EE3}"/>
              </a:ext>
            </a:extLst>
          </p:cNvPr>
          <p:cNvSpPr txBox="1"/>
          <p:nvPr/>
        </p:nvSpPr>
        <p:spPr>
          <a:xfrm>
            <a:off x="6096000" y="0"/>
            <a:ext cx="6373467" cy="3693319"/>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addWaterRecord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 node = new </a:t>
            </a: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Consumer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Units: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node-&gt;units;</a:t>
            </a:r>
          </a:p>
          <a:p>
            <a:pPr algn="l">
              <a:buNone/>
            </a:pPr>
            <a:r>
              <a:rPr lang="en-IN" b="0" i="0" dirty="0">
                <a:solidFill>
                  <a:srgbClr val="000000"/>
                </a:solidFill>
                <a:effectLst/>
                <a:latin typeface="Courier New" panose="02070309020205020404" pitchFamily="49" charset="0"/>
              </a:rPr>
              <a:t>    node-&gt;bill = node-&gt;units * 2.5;</a:t>
            </a: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waterHead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waterHead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"Water record added\n";</a:t>
            </a:r>
          </a:p>
          <a:p>
            <a:pPr algn="l">
              <a:buNone/>
            </a:pPr>
            <a:r>
              <a:rPr lang="en-IN" b="0" i="0" dirty="0">
                <a:solidFill>
                  <a:srgbClr val="000000"/>
                </a:solidFill>
                <a:effectLst/>
                <a:latin typeface="Courier New" panose="02070309020205020404" pitchFamily="49" charset="0"/>
              </a:rPr>
              <a:t>}</a:t>
            </a:r>
          </a:p>
          <a:p>
            <a:pPr>
              <a:buNone/>
            </a:pPr>
            <a:br>
              <a:rPr lang="en-IN" dirty="0"/>
            </a:br>
            <a:endParaRPr lang="en-IN" dirty="0"/>
          </a:p>
        </p:txBody>
      </p:sp>
      <p:sp>
        <p:nvSpPr>
          <p:cNvPr id="9" name="TextBox 8">
            <a:extLst>
              <a:ext uri="{FF2B5EF4-FFF2-40B4-BE49-F238E27FC236}">
                <a16:creationId xmlns:a16="http://schemas.microsoft.com/office/drawing/2014/main" id="{23FA1EFD-472B-6BF6-CB7D-27C3A15E54FB}"/>
              </a:ext>
            </a:extLst>
          </p:cNvPr>
          <p:cNvSpPr txBox="1"/>
          <p:nvPr/>
        </p:nvSpPr>
        <p:spPr>
          <a:xfrm>
            <a:off x="6376573" y="2820799"/>
            <a:ext cx="5539822" cy="4524315"/>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displayWaterRecords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waterHead</a:t>
            </a:r>
            <a:r>
              <a:rPr lang="en-IN" b="0" i="0" dirty="0">
                <a:solidFill>
                  <a:srgbClr val="000000"/>
                </a:solidFill>
                <a:effectLst/>
                <a:latin typeface="Courier New" panose="02070309020205020404" pitchFamily="49" charset="0"/>
              </a:rPr>
              <a:t>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 water records\n";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nWater</a:t>
            </a:r>
            <a:r>
              <a:rPr lang="en-IN" b="0" i="0" dirty="0">
                <a:solidFill>
                  <a:srgbClr val="000000"/>
                </a:solidFill>
                <a:effectLst/>
                <a:latin typeface="Courier New" panose="02070309020205020404" pitchFamily="49" charset="0"/>
              </a:rPr>
              <a:t> Records\n";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WaterRecord</a:t>
            </a:r>
            <a:r>
              <a:rPr lang="en-IN" b="0" i="0" dirty="0">
                <a:solidFill>
                  <a:srgbClr val="000000"/>
                </a:solidFill>
                <a:effectLst/>
                <a:latin typeface="Courier New" panose="02070309020205020404" pitchFamily="49" charset="0"/>
              </a:rPr>
              <a:t>* temp = </a:t>
            </a:r>
            <a:r>
              <a:rPr lang="en-IN" b="0" i="0" dirty="0" err="1">
                <a:solidFill>
                  <a:srgbClr val="000000"/>
                </a:solidFill>
                <a:effectLst/>
                <a:latin typeface="Courier New" panose="02070309020205020404" pitchFamily="49" charset="0"/>
              </a:rPr>
              <a:t>waterHead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temp-&gt;</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 &lt;&lt; " | " &lt;&lt; temp-&gt;units &lt;&lt; " | Rs." &lt;&lt; temp-&gt;bill &lt;&lt; </a:t>
            </a:r>
            <a:r>
              <a:rPr lang="en-IN" b="0" i="0" dirty="0" err="1">
                <a:solidFill>
                  <a:srgbClr val="000000"/>
                </a:solidFill>
                <a:effectLst/>
                <a:latin typeface="Courier New" panose="02070309020205020404" pitchFamily="49" charset="0"/>
              </a:rPr>
              <a:t>endl</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 }</a:t>
            </a:r>
          </a:p>
          <a:p>
            <a:pPr algn="l">
              <a:buNone/>
            </a:pPr>
            <a:endParaRPr lang="en-IN" b="0" i="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274131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78DB77-30B3-8350-1A30-2D22A0559561}"/>
              </a:ext>
            </a:extLst>
          </p:cNvPr>
          <p:cNvSpPr txBox="1"/>
          <p:nvPr/>
        </p:nvSpPr>
        <p:spPr>
          <a:xfrm>
            <a:off x="79513" y="119270"/>
            <a:ext cx="10873409" cy="923330"/>
          </a:xfrm>
          <a:prstGeom prst="rect">
            <a:avLst/>
          </a:prstGeom>
          <a:noFill/>
        </p:spPr>
        <p:txBody>
          <a:bodyPr wrap="square">
            <a:spAutoFit/>
          </a:bodyPr>
          <a:lstStyle/>
          <a:p>
            <a:pPr algn="l">
              <a:buNone/>
            </a:pPr>
            <a:br>
              <a:rPr lang="en-IN" b="0" i="0" dirty="0">
                <a:solidFill>
                  <a:srgbClr val="000000"/>
                </a:solidFill>
                <a:effectLst/>
                <a:latin typeface="Courier New" panose="02070309020205020404" pitchFamily="49" charset="0"/>
              </a:rPr>
            </a:br>
            <a:endParaRPr lang="en-IN" b="0" i="0" dirty="0">
              <a:solidFill>
                <a:srgbClr val="000000"/>
              </a:solidFill>
              <a:effectLst/>
              <a:latin typeface="Courier New" panose="02070309020205020404" pitchFamily="49" charset="0"/>
            </a:endParaRPr>
          </a:p>
          <a:p>
            <a:pPr algn="l">
              <a:buNone/>
            </a:pPr>
            <a:endParaRPr lang="en-IN" b="0" i="0" dirty="0">
              <a:solidFill>
                <a:srgbClr val="000000"/>
              </a:solidFill>
              <a:effectLst/>
              <a:latin typeface="Courier New" panose="02070309020205020404" pitchFamily="49" charset="0"/>
            </a:endParaRPr>
          </a:p>
        </p:txBody>
      </p:sp>
      <p:sp>
        <p:nvSpPr>
          <p:cNvPr id="5" name="TextBox 4">
            <a:extLst>
              <a:ext uri="{FF2B5EF4-FFF2-40B4-BE49-F238E27FC236}">
                <a16:creationId xmlns:a16="http://schemas.microsoft.com/office/drawing/2014/main" id="{8E726540-E23A-C26F-8651-092426C867E5}"/>
              </a:ext>
            </a:extLst>
          </p:cNvPr>
          <p:cNvSpPr txBox="1"/>
          <p:nvPr/>
        </p:nvSpPr>
        <p:spPr>
          <a:xfrm>
            <a:off x="1239078" y="138056"/>
            <a:ext cx="4856922" cy="6463308"/>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addElectricityRecord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 node = new </a:t>
            </a: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Consumer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Units: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node-&gt;units;</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if (node-&gt;units &lt;= 100)</a:t>
            </a:r>
          </a:p>
          <a:p>
            <a:pPr algn="l">
              <a:buNone/>
            </a:pPr>
            <a:r>
              <a:rPr lang="en-IN" b="0" i="0" dirty="0">
                <a:solidFill>
                  <a:srgbClr val="000000"/>
                </a:solidFill>
                <a:effectLst/>
                <a:latin typeface="Courier New" panose="02070309020205020404" pitchFamily="49" charset="0"/>
              </a:rPr>
              <a:t>        node-&gt;bill = node-&gt;units * 3;</a:t>
            </a:r>
          </a:p>
          <a:p>
            <a:pPr algn="l">
              <a:buNone/>
            </a:pPr>
            <a:r>
              <a:rPr lang="en-IN" b="0" i="0" dirty="0">
                <a:solidFill>
                  <a:srgbClr val="000000"/>
                </a:solidFill>
                <a:effectLst/>
                <a:latin typeface="Courier New" panose="02070309020205020404" pitchFamily="49" charset="0"/>
              </a:rPr>
              <a:t>    else if (node-&gt;units &lt;= 300)</a:t>
            </a:r>
          </a:p>
          <a:p>
            <a:pPr algn="l">
              <a:buNone/>
            </a:pPr>
            <a:r>
              <a:rPr lang="en-IN" b="0" i="0" dirty="0">
                <a:solidFill>
                  <a:srgbClr val="000000"/>
                </a:solidFill>
                <a:effectLst/>
                <a:latin typeface="Courier New" panose="02070309020205020404" pitchFamily="49" charset="0"/>
              </a:rPr>
              <a:t>        node-&gt;bill = 100 * 3 + (node-&gt;units - 100) * 5;</a:t>
            </a:r>
          </a:p>
          <a:p>
            <a:pPr algn="l">
              <a:buNone/>
            </a:pPr>
            <a:r>
              <a:rPr lang="en-IN" b="0" i="0" dirty="0">
                <a:solidFill>
                  <a:srgbClr val="000000"/>
                </a:solidFill>
                <a:effectLst/>
                <a:latin typeface="Courier New" panose="02070309020205020404" pitchFamily="49" charset="0"/>
              </a:rPr>
              <a:t>    else</a:t>
            </a:r>
          </a:p>
          <a:p>
            <a:pPr algn="l">
              <a:buNone/>
            </a:pPr>
            <a:r>
              <a:rPr lang="en-IN" b="0" i="0" dirty="0">
                <a:solidFill>
                  <a:srgbClr val="000000"/>
                </a:solidFill>
                <a:effectLst/>
                <a:latin typeface="Courier New" panose="02070309020205020404" pitchFamily="49" charset="0"/>
              </a:rPr>
              <a:t>        node-&gt;bill = 100 * 3 + 200 * 5 + (node-&gt;units - 300) * 7;</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electricityHead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electricityHead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"Electricity record added\n";</a:t>
            </a:r>
          </a:p>
          <a:p>
            <a:pPr algn="l">
              <a:buNone/>
            </a:pPr>
            <a:r>
              <a:rPr lang="en-IN" b="0" i="0" dirty="0">
                <a:solidFill>
                  <a:srgbClr val="000000"/>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71ADFECF-92BF-8184-5626-1EB64DFAC763}"/>
              </a:ext>
            </a:extLst>
          </p:cNvPr>
          <p:cNvSpPr txBox="1"/>
          <p:nvPr/>
        </p:nvSpPr>
        <p:spPr>
          <a:xfrm>
            <a:off x="6225847" y="138056"/>
            <a:ext cx="6097656" cy="4801314"/>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displayElectricityRecords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electricityHead</a:t>
            </a:r>
            <a:r>
              <a:rPr lang="en-IN" b="0" i="0" dirty="0">
                <a:solidFill>
                  <a:srgbClr val="000000"/>
                </a:solidFill>
                <a:effectLst/>
                <a:latin typeface="Courier New" panose="02070309020205020404" pitchFamily="49" charset="0"/>
              </a:rPr>
              <a:t>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 electricity records\n";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nElectricity</a:t>
            </a:r>
            <a:r>
              <a:rPr lang="en-IN" b="0" i="0" dirty="0">
                <a:solidFill>
                  <a:srgbClr val="000000"/>
                </a:solidFill>
                <a:effectLst/>
                <a:latin typeface="Courier New" panose="02070309020205020404" pitchFamily="49" charset="0"/>
              </a:rPr>
              <a:t> Records\n";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ElectricityRecord</a:t>
            </a:r>
            <a:r>
              <a:rPr lang="en-IN" b="0" i="0" dirty="0">
                <a:solidFill>
                  <a:srgbClr val="000000"/>
                </a:solidFill>
                <a:effectLst/>
                <a:latin typeface="Courier New" panose="02070309020205020404" pitchFamily="49" charset="0"/>
              </a:rPr>
              <a:t>* temp = </a:t>
            </a:r>
            <a:r>
              <a:rPr lang="en-IN" b="0" i="0" dirty="0" err="1">
                <a:solidFill>
                  <a:srgbClr val="000000"/>
                </a:solidFill>
                <a:effectLst/>
                <a:latin typeface="Courier New" panose="02070309020205020404" pitchFamily="49" charset="0"/>
              </a:rPr>
              <a:t>electricityHead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temp-&gt;</a:t>
            </a:r>
            <a:r>
              <a:rPr lang="en-IN" b="0" i="0" dirty="0" err="1">
                <a:solidFill>
                  <a:srgbClr val="000000"/>
                </a:solidFill>
                <a:effectLst/>
                <a:latin typeface="Courier New" panose="02070309020205020404" pitchFamily="49" charset="0"/>
              </a:rPr>
              <a:t>consumerId</a:t>
            </a:r>
            <a:r>
              <a:rPr lang="en-IN" b="0" i="0" dirty="0">
                <a:solidFill>
                  <a:srgbClr val="000000"/>
                </a:solidFill>
                <a:effectLst/>
                <a:latin typeface="Courier New" panose="02070309020205020404" pitchFamily="49" charset="0"/>
              </a:rPr>
              <a:t> &lt;&lt; " | " &lt;&lt; temp-&gt;units &lt;&lt; " | Rs." &lt;&lt; temp-&gt;bill &lt;&lt; </a:t>
            </a:r>
            <a:r>
              <a:rPr lang="en-IN" b="0" i="0" dirty="0" err="1">
                <a:solidFill>
                  <a:srgbClr val="000000"/>
                </a:solidFill>
                <a:effectLst/>
                <a:latin typeface="Courier New" panose="02070309020205020404" pitchFamily="49" charset="0"/>
              </a:rPr>
              <a:t>endl</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59662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D66E9D-175D-9DE4-5C1B-DE4E54568B69}"/>
              </a:ext>
            </a:extLst>
          </p:cNvPr>
          <p:cNvSpPr txBox="1"/>
          <p:nvPr/>
        </p:nvSpPr>
        <p:spPr>
          <a:xfrm>
            <a:off x="1632775" y="115656"/>
            <a:ext cx="6097656" cy="3416320"/>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addWasteRecord</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 node = new </a:t>
            </a: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ID: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node-&gt;id;</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Type: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node-&gt;type;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"Enter Quantity: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node-&gt;quantity;</a:t>
            </a:r>
          </a:p>
          <a:p>
            <a:pPr algn="l">
              <a:buNone/>
            </a:pPr>
            <a:r>
              <a:rPr lang="en-IN" b="0" i="0" dirty="0">
                <a:solidFill>
                  <a:srgbClr val="000000"/>
                </a:solidFill>
                <a:effectLst/>
                <a:latin typeface="Courier New" panose="02070309020205020404" pitchFamily="49" charset="0"/>
              </a:rPr>
              <a:t>    node-&gt;next = </a:t>
            </a:r>
            <a:r>
              <a:rPr lang="en-IN" b="0" i="0" dirty="0" err="1">
                <a:solidFill>
                  <a:srgbClr val="000000"/>
                </a:solidFill>
                <a:effectLst/>
                <a:latin typeface="Courier New" panose="02070309020205020404" pitchFamily="49" charset="0"/>
              </a:rPr>
              <a:t>wasteHead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wasteHead</a:t>
            </a:r>
            <a:r>
              <a:rPr lang="en-IN" b="0" i="0" dirty="0">
                <a:solidFill>
                  <a:srgbClr val="000000"/>
                </a:solidFill>
                <a:effectLst/>
                <a:latin typeface="Courier New" panose="02070309020205020404" pitchFamily="49" charset="0"/>
              </a:rPr>
              <a:t> = node;</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"Waste added\n";</a:t>
            </a:r>
          </a:p>
          <a:p>
            <a:pPr algn="l">
              <a:buNone/>
            </a:pPr>
            <a:r>
              <a:rPr lang="en-IN" b="0" i="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7AD61976-4CE9-B8A7-19A1-54AFA14BEFDA}"/>
              </a:ext>
            </a:extLst>
          </p:cNvPr>
          <p:cNvSpPr txBox="1"/>
          <p:nvPr/>
        </p:nvSpPr>
        <p:spPr>
          <a:xfrm>
            <a:off x="6020300" y="2761409"/>
            <a:ext cx="6097656" cy="4247317"/>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void </a:t>
            </a:r>
            <a:r>
              <a:rPr lang="en-IN" b="0" i="0" dirty="0" err="1">
                <a:solidFill>
                  <a:srgbClr val="000000"/>
                </a:solidFill>
                <a:effectLst/>
                <a:latin typeface="Courier New" panose="02070309020205020404" pitchFamily="49" charset="0"/>
              </a:rPr>
              <a:t>displayWasteRecords</a:t>
            </a: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if (</a:t>
            </a:r>
            <a:r>
              <a:rPr lang="en-IN" b="0" i="0" dirty="0" err="1">
                <a:solidFill>
                  <a:srgbClr val="000000"/>
                </a:solidFill>
                <a:effectLst/>
                <a:latin typeface="Courier New" panose="02070309020205020404" pitchFamily="49" charset="0"/>
              </a:rPr>
              <a:t>wasteHead</a:t>
            </a:r>
            <a:r>
              <a:rPr lang="en-IN" b="0" i="0" dirty="0">
                <a:solidFill>
                  <a:srgbClr val="000000"/>
                </a:solidFill>
                <a:effectLst/>
                <a:latin typeface="Courier New" panose="02070309020205020404" pitchFamily="49" charset="0"/>
              </a:rPr>
              <a:t>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"No waste records\n";</a:t>
            </a:r>
          </a:p>
          <a:p>
            <a:pPr algn="l">
              <a:buNone/>
            </a:pPr>
            <a:r>
              <a:rPr lang="en-IN" b="0" i="0" dirty="0">
                <a:solidFill>
                  <a:srgbClr val="000000"/>
                </a:solidFill>
                <a:effectLst/>
                <a:latin typeface="Courier New" panose="02070309020205020404" pitchFamily="49" charset="0"/>
              </a:rPr>
              <a:t>        return;</a:t>
            </a:r>
          </a:p>
          <a:p>
            <a:pPr algn="l">
              <a:buNone/>
            </a:pPr>
            <a:r>
              <a:rPr lang="en-IN" b="0" i="0" dirty="0">
                <a:solidFill>
                  <a:srgbClr val="000000"/>
                </a:solidFill>
                <a:effectLst/>
                <a:latin typeface="Courier New" panose="02070309020205020404" pitchFamily="49" charset="0"/>
              </a:rPr>
              <a:t>    }</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nWaste</a:t>
            </a:r>
            <a:r>
              <a:rPr lang="en-IN" b="0" i="0" dirty="0">
                <a:solidFill>
                  <a:srgbClr val="000000"/>
                </a:solidFill>
                <a:effectLst/>
                <a:latin typeface="Courier New" panose="02070309020205020404" pitchFamily="49" charset="0"/>
              </a:rPr>
              <a:t> Records\n";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WasteRecord</a:t>
            </a:r>
            <a:r>
              <a:rPr lang="en-IN" b="0" i="0" dirty="0">
                <a:solidFill>
                  <a:srgbClr val="000000"/>
                </a:solidFill>
                <a:effectLst/>
                <a:latin typeface="Courier New" panose="02070309020205020404" pitchFamily="49" charset="0"/>
              </a:rPr>
              <a:t>* temp = </a:t>
            </a:r>
            <a:r>
              <a:rPr lang="en-IN" b="0" i="0" dirty="0" err="1">
                <a:solidFill>
                  <a:srgbClr val="000000"/>
                </a:solidFill>
                <a:effectLst/>
                <a:latin typeface="Courier New" panose="02070309020205020404" pitchFamily="49" charset="0"/>
              </a:rPr>
              <a:t>wasteHead</a:t>
            </a:r>
            <a:r>
              <a:rPr lang="en-IN" b="0" i="0" dirty="0">
                <a:solidFill>
                  <a:srgbClr val="000000"/>
                </a:solidFill>
                <a:effectLst/>
                <a:latin typeface="Courier New" panose="02070309020205020404" pitchFamily="49" charset="0"/>
              </a:rPr>
              <a:t>;</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while (temp != NULL)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temp-&gt;id &lt;&lt; " | " &lt;&lt; temp-&gt;type &lt;&lt; " | " &lt;&lt; temp-&gt;quantity &lt;&lt; </a:t>
            </a:r>
            <a:r>
              <a:rPr lang="en-IN" b="0" i="0" dirty="0" err="1">
                <a:solidFill>
                  <a:srgbClr val="000000"/>
                </a:solidFill>
                <a:effectLst/>
                <a:latin typeface="Courier New" panose="02070309020205020404" pitchFamily="49" charset="0"/>
              </a:rPr>
              <a:t>endl</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temp = temp-&gt;next;</a:t>
            </a: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061206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060CD-980E-9CF6-71CA-BB3BB322C4E8}"/>
              </a:ext>
            </a:extLst>
          </p:cNvPr>
          <p:cNvSpPr txBox="1"/>
          <p:nvPr/>
        </p:nvSpPr>
        <p:spPr>
          <a:xfrm>
            <a:off x="2418521" y="69574"/>
            <a:ext cx="7354957" cy="7294305"/>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int main() {</a:t>
            </a:r>
          </a:p>
          <a:p>
            <a:pPr algn="l">
              <a:buNone/>
            </a:pPr>
            <a:r>
              <a:rPr lang="en-IN" b="0" i="0" dirty="0">
                <a:solidFill>
                  <a:srgbClr val="000000"/>
                </a:solidFill>
                <a:effectLst/>
                <a:latin typeface="Courier New" panose="02070309020205020404" pitchFamily="49" charset="0"/>
              </a:rPr>
              <a:t>    int choice, op;</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do {</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a:t>
            </a:r>
            <a:r>
              <a:rPr lang="en-IN" b="0" i="0" dirty="0" err="1">
                <a:solidFill>
                  <a:srgbClr val="000000"/>
                </a:solidFill>
                <a:effectLst/>
                <a:latin typeface="Courier New" panose="02070309020205020404" pitchFamily="49" charset="0"/>
              </a:rPr>
              <a:t>nMain</a:t>
            </a:r>
            <a:r>
              <a:rPr lang="en-IN" b="0" i="0" dirty="0">
                <a:solidFill>
                  <a:srgbClr val="000000"/>
                </a:solidFill>
                <a:effectLst/>
                <a:latin typeface="Courier New" panose="02070309020205020404" pitchFamily="49" charset="0"/>
              </a:rPr>
              <a:t> Menu\n";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Citizen\n2 Complaint\n3 Water\n4 Electricity\n5 Waste\n6 Exit\n";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choice;</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switch (choice) {</a:t>
            </a:r>
          </a:p>
          <a:p>
            <a:pPr algn="l">
              <a:buNone/>
            </a:pPr>
            <a:r>
              <a:rPr lang="en-IN" b="0" i="0" dirty="0">
                <a:solidFill>
                  <a:srgbClr val="000000"/>
                </a:solidFill>
                <a:effectLst/>
                <a:latin typeface="Courier New" panose="02070309020205020404" pitchFamily="49" charset="0"/>
              </a:rPr>
              <a:t>        case 1:</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Add\n2 Display\n";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op;</a:t>
            </a:r>
          </a:p>
          <a:p>
            <a:pPr algn="l">
              <a:buNone/>
            </a:pPr>
            <a:r>
              <a:rPr lang="en-IN" b="0" i="0" dirty="0">
                <a:solidFill>
                  <a:srgbClr val="000000"/>
                </a:solidFill>
                <a:effectLst/>
                <a:latin typeface="Courier New" panose="02070309020205020404" pitchFamily="49" charset="0"/>
              </a:rPr>
              <a:t>            if (op == 1) </a:t>
            </a:r>
            <a:r>
              <a:rPr lang="en-IN" b="0" i="0" dirty="0" err="1">
                <a:solidFill>
                  <a:srgbClr val="000000"/>
                </a:solidFill>
                <a:effectLst/>
                <a:latin typeface="Courier New" panose="02070309020205020404" pitchFamily="49" charset="0"/>
              </a:rPr>
              <a:t>addCitizen</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a:t>
            </a:r>
            <a:r>
              <a:rPr lang="en-IN" b="0" i="0" dirty="0" err="1">
                <a:solidFill>
                  <a:srgbClr val="000000"/>
                </a:solidFill>
                <a:effectLst/>
                <a:latin typeface="Courier New" panose="02070309020205020404" pitchFamily="49" charset="0"/>
              </a:rPr>
              <a:t>displayCitizens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break;</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case 2:</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Add\n2 Display\n3 Update\n";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op;</a:t>
            </a:r>
          </a:p>
          <a:p>
            <a:pPr algn="l">
              <a:buNone/>
            </a:pPr>
            <a:r>
              <a:rPr lang="en-IN" b="0" i="0" dirty="0">
                <a:solidFill>
                  <a:srgbClr val="000000"/>
                </a:solidFill>
                <a:effectLst/>
                <a:latin typeface="Courier New" panose="02070309020205020404" pitchFamily="49" charset="0"/>
              </a:rPr>
              <a:t>            if (op == 1) </a:t>
            </a:r>
            <a:r>
              <a:rPr lang="en-IN" b="0" i="0" dirty="0" err="1">
                <a:solidFill>
                  <a:srgbClr val="000000"/>
                </a:solidFill>
                <a:effectLst/>
                <a:latin typeface="Courier New" panose="02070309020205020404" pitchFamily="49" charset="0"/>
              </a:rPr>
              <a:t>addComplaint</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if (op == 2) </a:t>
            </a:r>
            <a:r>
              <a:rPr lang="en-IN" b="0" i="0" dirty="0" err="1">
                <a:solidFill>
                  <a:srgbClr val="000000"/>
                </a:solidFill>
                <a:effectLst/>
                <a:latin typeface="Courier New" panose="02070309020205020404" pitchFamily="49" charset="0"/>
              </a:rPr>
              <a:t>displayComplaints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a:t>
            </a:r>
            <a:r>
              <a:rPr lang="en-IN" b="0" i="0" dirty="0" err="1">
                <a:solidFill>
                  <a:srgbClr val="000000"/>
                </a:solidFill>
                <a:effectLst/>
                <a:latin typeface="Courier New" panose="02070309020205020404" pitchFamily="49" charset="0"/>
              </a:rPr>
              <a:t>updateComplaintStatus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break;</a:t>
            </a:r>
          </a:p>
          <a:p>
            <a:pPr>
              <a:buNone/>
            </a:pPr>
            <a:br>
              <a:rPr lang="en-IN" dirty="0"/>
            </a:br>
            <a:endParaRPr lang="en-IN" dirty="0"/>
          </a:p>
        </p:txBody>
      </p:sp>
    </p:spTree>
    <p:extLst>
      <p:ext uri="{BB962C8B-B14F-4D97-AF65-F5344CB8AC3E}">
        <p14:creationId xmlns:p14="http://schemas.microsoft.com/office/powerpoint/2010/main" val="2530344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1E2A1D-BC36-540D-81C4-E7C45D73C3A2}"/>
              </a:ext>
            </a:extLst>
          </p:cNvPr>
          <p:cNvSpPr txBox="1"/>
          <p:nvPr/>
        </p:nvSpPr>
        <p:spPr>
          <a:xfrm>
            <a:off x="1408626" y="0"/>
            <a:ext cx="7623313" cy="7848302"/>
          </a:xfrm>
          <a:prstGeom prst="rect">
            <a:avLst/>
          </a:prstGeom>
          <a:noFill/>
        </p:spPr>
        <p:txBody>
          <a:bodyPr wrap="square">
            <a:spAutoFit/>
          </a:bodyPr>
          <a:lstStyle/>
          <a:p>
            <a:pPr algn="l">
              <a:buNone/>
            </a:pPr>
            <a:r>
              <a:rPr lang="en-IN" b="0" i="0" dirty="0">
                <a:solidFill>
                  <a:srgbClr val="000000"/>
                </a:solidFill>
                <a:effectLst/>
                <a:latin typeface="Courier New" panose="02070309020205020404" pitchFamily="49" charset="0"/>
              </a:rPr>
              <a:t> case 3:</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Add\n2 Display\n";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op;</a:t>
            </a:r>
          </a:p>
          <a:p>
            <a:pPr algn="l">
              <a:buNone/>
            </a:pPr>
            <a:r>
              <a:rPr lang="en-IN" b="0" i="0" dirty="0">
                <a:solidFill>
                  <a:srgbClr val="000000"/>
                </a:solidFill>
                <a:effectLst/>
                <a:latin typeface="Courier New" panose="02070309020205020404" pitchFamily="49" charset="0"/>
              </a:rPr>
              <a:t>            if (op == 1) </a:t>
            </a:r>
            <a:r>
              <a:rPr lang="en-IN" b="0" i="0" dirty="0" err="1">
                <a:solidFill>
                  <a:srgbClr val="000000"/>
                </a:solidFill>
                <a:effectLst/>
                <a:latin typeface="Courier New" panose="02070309020205020404" pitchFamily="49" charset="0"/>
              </a:rPr>
              <a:t>addWaterRecord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a:t>
            </a:r>
            <a:r>
              <a:rPr lang="en-IN" b="0" i="0" dirty="0" err="1">
                <a:solidFill>
                  <a:srgbClr val="000000"/>
                </a:solidFill>
                <a:effectLst/>
                <a:latin typeface="Courier New" panose="02070309020205020404" pitchFamily="49" charset="0"/>
              </a:rPr>
              <a:t>displayWaterRecords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break;</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case 4:</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Add\n2 Display\n";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op;</a:t>
            </a:r>
          </a:p>
          <a:p>
            <a:pPr algn="l">
              <a:buNone/>
            </a:pPr>
            <a:r>
              <a:rPr lang="en-IN" b="0" i="0" dirty="0">
                <a:solidFill>
                  <a:srgbClr val="000000"/>
                </a:solidFill>
                <a:effectLst/>
                <a:latin typeface="Courier New" panose="02070309020205020404" pitchFamily="49" charset="0"/>
              </a:rPr>
              <a:t>            if (op == 1) </a:t>
            </a:r>
            <a:r>
              <a:rPr lang="en-IN" b="0" i="0" dirty="0" err="1">
                <a:solidFill>
                  <a:srgbClr val="000000"/>
                </a:solidFill>
                <a:effectLst/>
                <a:latin typeface="Courier New" panose="02070309020205020404" pitchFamily="49" charset="0"/>
              </a:rPr>
              <a:t>addElectricityRecord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a:t>
            </a:r>
            <a:r>
              <a:rPr lang="en-IN" b="0" i="0" dirty="0" err="1">
                <a:solidFill>
                  <a:srgbClr val="000000"/>
                </a:solidFill>
                <a:effectLst/>
                <a:latin typeface="Courier New" panose="02070309020205020404" pitchFamily="49" charset="0"/>
              </a:rPr>
              <a:t>displayElectricityRecords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break;</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case 5:</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"1 Add\n2 Display\n";</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cin</a:t>
            </a:r>
            <a:r>
              <a:rPr lang="en-IN" b="0" i="0" dirty="0">
                <a:solidFill>
                  <a:srgbClr val="000000"/>
                </a:solidFill>
                <a:effectLst/>
                <a:latin typeface="Courier New" panose="02070309020205020404" pitchFamily="49" charset="0"/>
              </a:rPr>
              <a:t> &gt;&gt; op;</a:t>
            </a:r>
          </a:p>
          <a:p>
            <a:pPr algn="l">
              <a:buNone/>
            </a:pPr>
            <a:r>
              <a:rPr lang="en-IN" b="0" i="0" dirty="0">
                <a:solidFill>
                  <a:srgbClr val="000000"/>
                </a:solidFill>
                <a:effectLst/>
                <a:latin typeface="Courier New" panose="02070309020205020404" pitchFamily="49" charset="0"/>
              </a:rPr>
              <a:t>            if (op == 1) </a:t>
            </a:r>
            <a:r>
              <a:rPr lang="en-IN" b="0" i="0" dirty="0" err="1">
                <a:solidFill>
                  <a:srgbClr val="000000"/>
                </a:solidFill>
                <a:effectLst/>
                <a:latin typeface="Courier New" panose="02070309020205020404" pitchFamily="49" charset="0"/>
              </a:rPr>
              <a:t>addWasteRecord</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else </a:t>
            </a:r>
            <a:r>
              <a:rPr lang="en-IN" b="0" i="0" dirty="0" err="1">
                <a:solidFill>
                  <a:srgbClr val="000000"/>
                </a:solidFill>
                <a:effectLst/>
                <a:latin typeface="Courier New" panose="02070309020205020404" pitchFamily="49" charset="0"/>
              </a:rPr>
              <a:t>displayWasteRecords</a:t>
            </a:r>
            <a:r>
              <a:rPr lang="en-IN" b="0" i="0" dirty="0">
                <a:solidFill>
                  <a:srgbClr val="000000"/>
                </a:solidFill>
                <a:effectLst/>
                <a:latin typeface="Courier New" panose="02070309020205020404" pitchFamily="49" charset="0"/>
              </a:rPr>
              <a:t>();</a:t>
            </a:r>
          </a:p>
          <a:p>
            <a:pPr algn="l">
              <a:buNone/>
            </a:pPr>
            <a:r>
              <a:rPr lang="en-IN" b="0" i="0" dirty="0">
                <a:solidFill>
                  <a:srgbClr val="000000"/>
                </a:solidFill>
                <a:effectLst/>
                <a:latin typeface="Courier New" panose="02070309020205020404" pitchFamily="49" charset="0"/>
              </a:rPr>
              <a:t>            break;</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case 6:</a:t>
            </a:r>
          </a:p>
          <a:p>
            <a:pPr algn="l">
              <a:buNone/>
            </a:pP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cout</a:t>
            </a:r>
            <a:r>
              <a:rPr lang="en-IN" b="0" i="0" dirty="0">
                <a:solidFill>
                  <a:srgbClr val="000000"/>
                </a:solidFill>
                <a:effectLst/>
                <a:latin typeface="Courier New" panose="02070309020205020404" pitchFamily="49" charset="0"/>
              </a:rPr>
              <a:t> &lt;&lt; "Exiting\n";</a:t>
            </a:r>
          </a:p>
          <a:p>
            <a:pPr algn="l">
              <a:buNone/>
            </a:pPr>
            <a:r>
              <a:rPr lang="en-IN" b="0" i="0" dirty="0">
                <a:solidFill>
                  <a:srgbClr val="000000"/>
                </a:solidFill>
                <a:effectLst/>
                <a:latin typeface="Courier New" panose="02070309020205020404" pitchFamily="49" charset="0"/>
              </a:rPr>
              <a:t>            break;</a:t>
            </a:r>
          </a:p>
          <a:p>
            <a:pPr algn="l">
              <a:buNone/>
            </a:pPr>
            <a:endParaRPr lang="en-IN" b="0" i="0" dirty="0">
              <a:solidFill>
                <a:srgbClr val="000000"/>
              </a:solidFill>
              <a:effectLst/>
              <a:latin typeface="Courier New" panose="02070309020205020404" pitchFamily="49" charset="0"/>
            </a:endParaRPr>
          </a:p>
          <a:p>
            <a:pPr algn="l">
              <a:buNone/>
            </a:pPr>
            <a:r>
              <a:rPr lang="en-IN" b="0" i="0" dirty="0">
                <a:solidFill>
                  <a:srgbClr val="000000"/>
                </a:solidFill>
                <a:effectLst/>
                <a:latin typeface="Courier New" panose="02070309020205020404" pitchFamily="49" charset="0"/>
              </a:rPr>
              <a:t>        </a:t>
            </a:r>
          </a:p>
          <a:p>
            <a:pPr algn="l">
              <a:buNone/>
            </a:pPr>
            <a:r>
              <a:rPr lang="en-IN" b="0" i="0" dirty="0">
                <a:solidFill>
                  <a:srgbClr val="000000"/>
                </a:solidFill>
                <a:effectLst/>
                <a:latin typeface="Courier New" panose="02070309020205020404" pitchFamily="49" charset="0"/>
              </a:rPr>
              <a:t>    </a:t>
            </a:r>
            <a:br>
              <a:rPr lang="en-IN" dirty="0"/>
            </a:br>
            <a:endParaRPr lang="en-IN" dirty="0"/>
          </a:p>
        </p:txBody>
      </p:sp>
      <p:sp>
        <p:nvSpPr>
          <p:cNvPr id="5" name="TextBox 4">
            <a:extLst>
              <a:ext uri="{FF2B5EF4-FFF2-40B4-BE49-F238E27FC236}">
                <a16:creationId xmlns:a16="http://schemas.microsoft.com/office/drawing/2014/main" id="{293E49FB-F24F-9F4F-F64C-96706D386D19}"/>
              </a:ext>
            </a:extLst>
          </p:cNvPr>
          <p:cNvSpPr txBox="1"/>
          <p:nvPr/>
        </p:nvSpPr>
        <p:spPr>
          <a:xfrm>
            <a:off x="6811617" y="-69574"/>
            <a:ext cx="6097656" cy="2862322"/>
          </a:xfrm>
          <a:prstGeom prst="rect">
            <a:avLst/>
          </a:prstGeom>
          <a:noFill/>
        </p:spPr>
        <p:txBody>
          <a:bodyPr wrap="square">
            <a:spAutoFit/>
          </a:bodyPr>
          <a:lstStyle/>
          <a:p>
            <a:pPr algn="l">
              <a:buNone/>
            </a:pPr>
            <a:br>
              <a:rPr lang="en-US" b="0" i="0" dirty="0">
                <a:solidFill>
                  <a:srgbClr val="000000"/>
                </a:solidFill>
                <a:effectLst/>
                <a:latin typeface="Courier New" panose="02070309020205020404" pitchFamily="49" charset="0"/>
              </a:rPr>
            </a:br>
            <a:endParaRPr lang="en-US" b="0" i="0" dirty="0">
              <a:solidFill>
                <a:srgbClr val="000000"/>
              </a:solidFill>
              <a:effectLst/>
              <a:latin typeface="Courier New" panose="02070309020205020404" pitchFamily="49" charset="0"/>
            </a:endParaRPr>
          </a:p>
          <a:p>
            <a:pPr algn="l">
              <a:buNone/>
            </a:pPr>
            <a:r>
              <a:rPr lang="en-US" b="0" i="0" dirty="0">
                <a:solidFill>
                  <a:srgbClr val="000000"/>
                </a:solidFill>
                <a:effectLst/>
                <a:latin typeface="Courier New" panose="02070309020205020404" pitchFamily="49" charset="0"/>
              </a:rPr>
              <a:t>        default:</a:t>
            </a:r>
          </a:p>
          <a:p>
            <a:pPr algn="l">
              <a:buNone/>
            </a:pP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cout</a:t>
            </a:r>
            <a:r>
              <a:rPr lang="en-US" b="0" i="0" dirty="0">
                <a:solidFill>
                  <a:srgbClr val="000000"/>
                </a:solidFill>
                <a:effectLst/>
                <a:latin typeface="Courier New" panose="02070309020205020404" pitchFamily="49" charset="0"/>
              </a:rPr>
              <a:t> &lt;&lt; "Invalid choice\n";</a:t>
            </a:r>
          </a:p>
          <a:p>
            <a:pPr algn="l">
              <a:buNone/>
            </a:pPr>
            <a:r>
              <a:rPr lang="en-US" b="0" i="0" dirty="0">
                <a:solidFill>
                  <a:srgbClr val="000000"/>
                </a:solidFill>
                <a:effectLst/>
                <a:latin typeface="Courier New" panose="02070309020205020404" pitchFamily="49" charset="0"/>
              </a:rPr>
              <a:t>        }</a:t>
            </a:r>
          </a:p>
          <a:p>
            <a:pPr algn="l">
              <a:buNone/>
            </a:pPr>
            <a:endParaRPr lang="en-US" b="0" i="0" dirty="0">
              <a:solidFill>
                <a:srgbClr val="000000"/>
              </a:solidFill>
              <a:effectLst/>
              <a:latin typeface="Courier New" panose="02070309020205020404" pitchFamily="49" charset="0"/>
            </a:endParaRPr>
          </a:p>
          <a:p>
            <a:pPr algn="l">
              <a:buNone/>
            </a:pPr>
            <a:r>
              <a:rPr lang="en-US" b="0" i="0" dirty="0">
                <a:solidFill>
                  <a:srgbClr val="000000"/>
                </a:solidFill>
                <a:effectLst/>
                <a:latin typeface="Courier New" panose="02070309020205020404" pitchFamily="49" charset="0"/>
              </a:rPr>
              <a:t>    } while (choice != 6);</a:t>
            </a:r>
          </a:p>
          <a:p>
            <a:pPr algn="l">
              <a:buNone/>
            </a:pPr>
            <a:endParaRPr lang="en-US" b="0" i="0" dirty="0">
              <a:solidFill>
                <a:srgbClr val="000000"/>
              </a:solidFill>
              <a:effectLst/>
              <a:latin typeface="Courier New" panose="02070309020205020404" pitchFamily="49" charset="0"/>
            </a:endParaRPr>
          </a:p>
          <a:p>
            <a:pPr algn="l">
              <a:buNone/>
            </a:pPr>
            <a:r>
              <a:rPr lang="en-US" b="0" i="0" dirty="0">
                <a:solidFill>
                  <a:srgbClr val="000000"/>
                </a:solidFill>
                <a:effectLst/>
                <a:latin typeface="Courier New" panose="02070309020205020404" pitchFamily="49" charset="0"/>
              </a:rPr>
              <a:t>    return 0;</a:t>
            </a:r>
          </a:p>
          <a:p>
            <a:pPr algn="l">
              <a:buNone/>
            </a:pPr>
            <a:r>
              <a:rPr lang="en-US" b="0" i="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48517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E6745-B07F-263E-331E-278848E4DE36}"/>
              </a:ext>
            </a:extLst>
          </p:cNvPr>
          <p:cNvSpPr>
            <a:spLocks noGrp="1"/>
          </p:cNvSpPr>
          <p:nvPr>
            <p:ph type="title"/>
          </p:nvPr>
        </p:nvSpPr>
        <p:spPr>
          <a:xfrm>
            <a:off x="1484311" y="308113"/>
            <a:ext cx="10018713" cy="1752599"/>
          </a:xfrm>
        </p:spPr>
        <p:txBody>
          <a:bodyPr/>
          <a:lstStyle/>
          <a:p>
            <a:r>
              <a:rPr lang="en-IN" dirty="0"/>
              <a:t>RESULTS (OUTPUT SCREENSHOTS)</a:t>
            </a:r>
          </a:p>
        </p:txBody>
      </p:sp>
      <p:pic>
        <p:nvPicPr>
          <p:cNvPr id="5" name="Content Placeholder 4">
            <a:extLst>
              <a:ext uri="{FF2B5EF4-FFF2-40B4-BE49-F238E27FC236}">
                <a16:creationId xmlns:a16="http://schemas.microsoft.com/office/drawing/2014/main" id="{BB658912-A07F-0261-C674-133CA56263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5792" y="1679762"/>
            <a:ext cx="10257182" cy="4598456"/>
          </a:xfrm>
          <a:prstGeom prst="rect">
            <a:avLst/>
          </a:prstGeom>
        </p:spPr>
      </p:pic>
    </p:spTree>
    <p:extLst>
      <p:ext uri="{BB962C8B-B14F-4D97-AF65-F5344CB8AC3E}">
        <p14:creationId xmlns:p14="http://schemas.microsoft.com/office/powerpoint/2010/main" val="929190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4BCD47-8608-40F4-8DF7-A54142E06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699" y="514841"/>
            <a:ext cx="9909472" cy="5828317"/>
          </a:xfrm>
          <a:prstGeom prst="rect">
            <a:avLst/>
          </a:prstGeom>
        </p:spPr>
      </p:pic>
    </p:spTree>
    <p:extLst>
      <p:ext uri="{BB962C8B-B14F-4D97-AF65-F5344CB8AC3E}">
        <p14:creationId xmlns:p14="http://schemas.microsoft.com/office/powerpoint/2010/main" val="1531387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C776BD-B95D-6C22-604F-00B002B82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628" y="491699"/>
            <a:ext cx="9089833" cy="5372388"/>
          </a:xfrm>
          <a:prstGeom prst="rect">
            <a:avLst/>
          </a:prstGeom>
        </p:spPr>
      </p:pic>
    </p:spTree>
    <p:extLst>
      <p:ext uri="{BB962C8B-B14F-4D97-AF65-F5344CB8AC3E}">
        <p14:creationId xmlns:p14="http://schemas.microsoft.com/office/powerpoint/2010/main" val="1378697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75CF8-DF47-0204-BD5B-C0688071C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020" y="387694"/>
            <a:ext cx="9722450" cy="5585656"/>
          </a:xfrm>
          <a:prstGeom prst="rect">
            <a:avLst/>
          </a:prstGeom>
        </p:spPr>
      </p:pic>
    </p:spTree>
    <p:extLst>
      <p:ext uri="{BB962C8B-B14F-4D97-AF65-F5344CB8AC3E}">
        <p14:creationId xmlns:p14="http://schemas.microsoft.com/office/powerpoint/2010/main" val="1343548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24E0-4BC8-ADF4-EDF6-63A7F77D6086}"/>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B3EA7BA1-27CE-F897-578C-860F61767D99}"/>
              </a:ext>
            </a:extLst>
          </p:cNvPr>
          <p:cNvSpPr>
            <a:spLocks noGrp="1"/>
          </p:cNvSpPr>
          <p:nvPr>
            <p:ph idx="1"/>
          </p:nvPr>
        </p:nvSpPr>
        <p:spPr/>
        <p:txBody>
          <a:bodyPr/>
          <a:lstStyle/>
          <a:p>
            <a:r>
              <a:rPr lang="en-US" dirty="0"/>
              <a:t>This project can be further improved by:</a:t>
            </a:r>
          </a:p>
          <a:p>
            <a:r>
              <a:rPr lang="en-US" dirty="0"/>
              <a:t>Adding file handling for permanent storage </a:t>
            </a:r>
          </a:p>
          <a:p>
            <a:r>
              <a:rPr lang="en-US" dirty="0"/>
              <a:t>Creating a graphical user interface </a:t>
            </a:r>
          </a:p>
          <a:p>
            <a:r>
              <a:rPr lang="en-US" dirty="0"/>
              <a:t>Developing a web/mobile version </a:t>
            </a:r>
          </a:p>
          <a:p>
            <a:r>
              <a:rPr lang="en-US" dirty="0"/>
              <a:t>Adding login authentication system</a:t>
            </a:r>
          </a:p>
          <a:p>
            <a:endParaRPr lang="en-IN" dirty="0"/>
          </a:p>
        </p:txBody>
      </p:sp>
    </p:spTree>
    <p:extLst>
      <p:ext uri="{BB962C8B-B14F-4D97-AF65-F5344CB8AC3E}">
        <p14:creationId xmlns:p14="http://schemas.microsoft.com/office/powerpoint/2010/main" val="162344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CD56-BBB3-F0C4-C400-4BF241A5F4E5}"/>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FAB8DA14-0CA5-64E4-0CD3-6499A35985FB}"/>
              </a:ext>
            </a:extLst>
          </p:cNvPr>
          <p:cNvSpPr>
            <a:spLocks noGrp="1" noChangeArrowheads="1"/>
          </p:cNvSpPr>
          <p:nvPr>
            <p:ph idx="1"/>
          </p:nvPr>
        </p:nvSpPr>
        <p:spPr bwMode="auto">
          <a:xfrm>
            <a:off x="1004755" y="2274838"/>
            <a:ext cx="115643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Bjarne Stroustrup</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The C++ Programming Language</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4th Edition, Addison-Wesley, 2013.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E. Balagurusamy</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Object Oriented Programming with C++</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8th Edition, McGraw Hill Education, 2020.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Mark Allen Weiss</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Data Structures and Algorithm Analysis in C++</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4th Edition, Pearson, 2014.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Seymour Lipschutz</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Data Structures with C</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Schaum’s Outline Series, McGraw Hill, 2011.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Robert Lafore</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Data Structures and Algorithms in C++</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2nd Edition, Sams Publishing, 2002.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Narasimha </a:t>
            </a:r>
            <a:r>
              <a:rPr kumimoji="0" lang="en-US" altLang="en-US" sz="1800" b="1" i="0" u="none" strike="noStrike" cap="none" normalizeH="0" baseline="0" dirty="0" err="1">
                <a:ln>
                  <a:noFill/>
                </a:ln>
                <a:solidFill>
                  <a:schemeClr val="tx1"/>
                </a:solidFill>
                <a:effectLst/>
                <a:latin typeface="Batang" panose="02030600000101010101" pitchFamily="18" charset="-127"/>
                <a:ea typeface="Batang" panose="02030600000101010101" pitchFamily="18" charset="-127"/>
              </a:rPr>
              <a:t>Karumanchi</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1" u="none" strike="noStrike" cap="none" normalizeH="0" baseline="0" dirty="0">
                <a:ln>
                  <a:noFill/>
                </a:ln>
                <a:solidFill>
                  <a:schemeClr val="tx1"/>
                </a:solidFill>
                <a:effectLst/>
                <a:latin typeface="Batang" panose="02030600000101010101" pitchFamily="18" charset="-127"/>
                <a:ea typeface="Batang" panose="02030600000101010101" pitchFamily="18" charset="-127"/>
              </a:rPr>
              <a:t>Data Structures and Algorithms Made Easy</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r>
              <a:rPr kumimoji="0" lang="en-US" altLang="en-US" sz="1800" b="0" i="0" u="none" strike="noStrike" cap="none" normalizeH="0" baseline="0" dirty="0" err="1">
                <a:ln>
                  <a:noFill/>
                </a:ln>
                <a:solidFill>
                  <a:schemeClr val="tx1"/>
                </a:solidFill>
                <a:effectLst/>
                <a:latin typeface="Batang" panose="02030600000101010101" pitchFamily="18" charset="-127"/>
                <a:ea typeface="Batang" panose="02030600000101010101" pitchFamily="18" charset="-127"/>
              </a:rPr>
              <a:t>CareerMonk</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Publications, 2016.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Batang" panose="02030600000101010101" pitchFamily="18" charset="-127"/>
                <a:ea typeface="Batang" panose="02030600000101010101" pitchFamily="18" charset="-127"/>
              </a:rPr>
              <a:t>GeeksforGeeks</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“Linked List Data Structure,” Available: </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hlinkClick r:id="rId2"/>
              </a:rPr>
              <a:t>https://www.geeksforgeeks.org</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Batang" panose="02030600000101010101" pitchFamily="18" charset="-127"/>
                <a:ea typeface="Batang" panose="02030600000101010101" pitchFamily="18" charset="-127"/>
              </a:rPr>
              <a:t>TutorialsPoint</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“C++ Programming and Data Structures,” Available: </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hlinkClick r:id="rId3"/>
              </a:rPr>
              <a:t>https://www.tutorialspoint.com</a:t>
            </a:r>
            <a:r>
              <a:rPr kumimoji="0" lang="en-US" altLang="en-US" sz="1800" b="0" i="0" u="none" strike="noStrike" cap="none" normalizeH="0" baseline="0" dirty="0">
                <a:ln>
                  <a:noFill/>
                </a:ln>
                <a:solidFill>
                  <a:schemeClr val="tx1"/>
                </a:solidFill>
                <a:effectLst/>
                <a:latin typeface="Batang" panose="02030600000101010101" pitchFamily="18" charset="-127"/>
                <a:ea typeface="Batang" panose="02030600000101010101" pitchFamily="18" charset="-127"/>
              </a:rPr>
              <a:t> </a:t>
            </a:r>
          </a:p>
        </p:txBody>
      </p:sp>
    </p:spTree>
    <p:extLst>
      <p:ext uri="{BB962C8B-B14F-4D97-AF65-F5344CB8AC3E}">
        <p14:creationId xmlns:p14="http://schemas.microsoft.com/office/powerpoint/2010/main" val="20793598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53</TotalTime>
  <Words>2278</Words>
  <Application>Microsoft Office PowerPoint</Application>
  <PresentationFormat>Widescreen</PresentationFormat>
  <Paragraphs>369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Parallax</vt:lpstr>
      <vt:lpstr>SMART VILLAGE MANAGEMENT SYSTEM (Project Report)</vt:lpstr>
      <vt:lpstr> ABSTRACT </vt:lpstr>
      <vt:lpstr>INTRODUCTION</vt:lpstr>
      <vt:lpstr>OBJECTIVES</vt:lpstr>
      <vt:lpstr>REQUIREMENTS</vt:lpstr>
      <vt:lpstr>ALGORITHM</vt:lpstr>
      <vt:lpstr>. </vt:lpstr>
      <vt:lpstr>FLOWCHART</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(OUTPUT SCREENSHOTS)</vt:lpstr>
      <vt:lpstr>PowerPoint Presentation</vt:lpstr>
      <vt:lpstr>PowerPoint Presentation</vt:lpstr>
      <vt:lpstr>PowerPoint Presentation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VILLAGE MANAGEMENT SYSTEM (Project Report)</dc:title>
  <dc:creator>JaYaRaM SaPPa</dc:creator>
  <cp:lastModifiedBy>JAYARAM SAPPA</cp:lastModifiedBy>
  <cp:revision>2</cp:revision>
  <dcterms:created xsi:type="dcterms:W3CDTF">2026-04-30T18:27:40Z</dcterms:created>
  <dcterms:modified xsi:type="dcterms:W3CDTF">2026-05-01T05:27:44Z</dcterms:modified>
</cp:coreProperties>
</file>